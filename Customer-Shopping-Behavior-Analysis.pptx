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DM Sans Medium"/>
      <p:regular r:id="rId201314"/>
    </p:embeddedFont>
    <p:embeddedFont>
      <p:font typeface="DM Sans SemiBold"/>
      <p:regular r:id="rId201315"/>
    </p:embeddedFont>
    <p:embeddedFont>
      <p:font typeface="DM Sans Bold"/>
      <p:regular r:id="rId201316"/>
    </p:embeddedFont>
    <p:embeddedFont>
      <p:font typeface="DM Sans Black"/>
      <p:regular r:id="rId201317"/>
    </p:embeddedFont>
    <p:embeddedFont>
      <p:font typeface="Inter Medium"/>
      <p:regular r:id="rId201318"/>
    </p:embeddedFont>
    <p:embeddedFont>
      <p:font typeface="Inter SemiBold"/>
      <p:regular r:id="rId201319"/>
    </p:embeddedFont>
    <p:embeddedFont>
      <p:font typeface="Inter Bold"/>
      <p:regular r:id="rId201320"/>
    </p:embeddedFont>
    <p:embeddedFont>
      <p:font typeface="Inter Black"/>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5F5"/>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6.png"/><Relationship Id="rId9" Type="http://schemas.openxmlformats.org/officeDocument/2006/relationships/image" Target="../media/image-10-7.svg"/><Relationship Id="rId10" Type="http://schemas.openxmlformats.org/officeDocument/2006/relationships/image" Target="../media/image-10-2.png"/><Relationship Id="rId11" Type="http://schemas.openxmlformats.org/officeDocument/2006/relationships/image" Target="../media/image-10-3.svg"/><Relationship Id="rId12" Type="http://schemas.openxmlformats.org/officeDocument/2006/relationships/slideLayout" Target="../slideLayouts/slideLayout2.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744365"/>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030303"/>
                </a:solidFill>
                <a:latin typeface="DM Sans SemiBold" pitchFamily="34" charset="0"/>
                <a:ea typeface="DM Sans SemiBold" pitchFamily="34" charset="-122"/>
                <a:cs typeface="DM Sans SemiBold" pitchFamily="34" charset="-120"/>
              </a:rPr>
              <a:t>Customer Shopping Behavior Analysis</a:t>
            </a:r>
            <a:endParaRPr lang="en-US" sz="3250" dirty="0"/>
          </a:p>
        </p:txBody>
      </p:sp>
      <p:sp>
        <p:nvSpPr>
          <p:cNvPr id="3" name="Text 1"/>
          <p:cNvSpPr/>
          <p:nvPr/>
        </p:nvSpPr>
        <p:spPr>
          <a:xfrm>
            <a:off x="356682" y="2591792"/>
            <a:ext cx="11478330" cy="264616"/>
          </a:xfrm>
          <a:prstGeom prst="rect">
            <a:avLst/>
          </a:prstGeom>
          <a:noFill/>
          <a:ln/>
        </p:spPr>
        <p:txBody>
          <a:bodyPr wrap="none" lIns="0" tIns="0" rIns="0" bIns="0" rtlCol="0" anchor="t"/>
          <a:lstStyle/>
          <a:p>
            <a:pPr algn="ctr"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A data-driven examination of 3,900 transactions across product categories, customer segments, and purchasing patterns</a:t>
            </a:r>
            <a:endParaRPr lang="en-US" sz="1300" dirty="0"/>
          </a:p>
        </p:txBody>
      </p:sp>
      <p:sp>
        <p:nvSpPr>
          <p:cNvPr id="4" name="Shape 2"/>
          <p:cNvSpPr/>
          <p:nvPr/>
        </p:nvSpPr>
        <p:spPr>
          <a:xfrm>
            <a:off x="661475" y="3042444"/>
            <a:ext cx="5351725" cy="952897"/>
          </a:xfrm>
          <a:prstGeom prst="roundRect">
            <a:avLst>
              <a:gd name="adj" fmla="val 2603"/>
            </a:avLst>
          </a:prstGeom>
          <a:solidFill>
            <a:srgbClr val="F2EEEE"/>
          </a:solidFill>
          <a:ln/>
        </p:spPr>
      </p:sp>
      <p:sp>
        <p:nvSpPr>
          <p:cNvPr id="5" name="Text 3"/>
          <p:cNvSpPr/>
          <p:nvPr/>
        </p:nvSpPr>
        <p:spPr>
          <a:xfrm>
            <a:off x="826769" y="3207742"/>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3,900</a:t>
            </a:r>
            <a:endParaRPr lang="en-US" sz="1600" dirty="0"/>
          </a:p>
        </p:txBody>
      </p:sp>
      <p:sp>
        <p:nvSpPr>
          <p:cNvPr id="6" name="Text 4"/>
          <p:cNvSpPr/>
          <p:nvPr/>
        </p:nvSpPr>
        <p:spPr>
          <a:xfrm>
            <a:off x="826769" y="3565426"/>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Total purchase records analyzed</a:t>
            </a:r>
            <a:endParaRPr lang="en-US" sz="1300" dirty="0"/>
          </a:p>
        </p:txBody>
      </p:sp>
      <p:sp>
        <p:nvSpPr>
          <p:cNvPr id="7" name="Shape 5"/>
          <p:cNvSpPr/>
          <p:nvPr/>
        </p:nvSpPr>
        <p:spPr>
          <a:xfrm>
            <a:off x="6178495" y="3042444"/>
            <a:ext cx="5351725" cy="952897"/>
          </a:xfrm>
          <a:prstGeom prst="roundRect">
            <a:avLst>
              <a:gd name="adj" fmla="val 2603"/>
            </a:avLst>
          </a:prstGeom>
          <a:solidFill>
            <a:srgbClr val="F2EEEE"/>
          </a:solidFill>
          <a:ln/>
        </p:spPr>
      </p:sp>
      <p:sp>
        <p:nvSpPr>
          <p:cNvPr id="8" name="Text 6"/>
          <p:cNvSpPr/>
          <p:nvPr/>
        </p:nvSpPr>
        <p:spPr>
          <a:xfrm>
            <a:off x="6343789" y="3207742"/>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18</a:t>
            </a:r>
            <a:endParaRPr lang="en-US" sz="1600" dirty="0"/>
          </a:p>
        </p:txBody>
      </p:sp>
      <p:sp>
        <p:nvSpPr>
          <p:cNvPr id="9" name="Text 7"/>
          <p:cNvSpPr/>
          <p:nvPr/>
        </p:nvSpPr>
        <p:spPr>
          <a:xfrm>
            <a:off x="6343789" y="3565426"/>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Data dimensions per transaction</a:t>
            </a:r>
            <a:endParaRPr lang="en-US" sz="1300" dirty="0"/>
          </a:p>
        </p:txBody>
      </p:sp>
      <p:sp>
        <p:nvSpPr>
          <p:cNvPr id="10" name="Shape 8"/>
          <p:cNvSpPr/>
          <p:nvPr/>
        </p:nvSpPr>
        <p:spPr>
          <a:xfrm>
            <a:off x="661475" y="4160639"/>
            <a:ext cx="5351725" cy="952897"/>
          </a:xfrm>
          <a:prstGeom prst="roundRect">
            <a:avLst>
              <a:gd name="adj" fmla="val 2603"/>
            </a:avLst>
          </a:prstGeom>
          <a:solidFill>
            <a:srgbClr val="F2EEEE"/>
          </a:solidFill>
          <a:ln/>
        </p:spPr>
      </p:sp>
      <p:sp>
        <p:nvSpPr>
          <p:cNvPr id="11" name="Text 9"/>
          <p:cNvSpPr/>
          <p:nvPr/>
        </p:nvSpPr>
        <p:spPr>
          <a:xfrm>
            <a:off x="826769" y="4325938"/>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$233,081</a:t>
            </a:r>
            <a:endParaRPr lang="en-US" sz="1600" dirty="0"/>
          </a:p>
        </p:txBody>
      </p:sp>
      <p:sp>
        <p:nvSpPr>
          <p:cNvPr id="12" name="Text 10"/>
          <p:cNvSpPr/>
          <p:nvPr/>
        </p:nvSpPr>
        <p:spPr>
          <a:xfrm>
            <a:off x="826769" y="4683621"/>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Total revenue across all segments</a:t>
            </a:r>
            <a:endParaRPr lang="en-US" sz="1300" dirty="0"/>
          </a:p>
        </p:txBody>
      </p:sp>
      <p:sp>
        <p:nvSpPr>
          <p:cNvPr id="13" name="Shape 11"/>
          <p:cNvSpPr/>
          <p:nvPr/>
        </p:nvSpPr>
        <p:spPr>
          <a:xfrm>
            <a:off x="6178495" y="4160639"/>
            <a:ext cx="5351725" cy="952897"/>
          </a:xfrm>
          <a:prstGeom prst="roundRect">
            <a:avLst>
              <a:gd name="adj" fmla="val 2603"/>
            </a:avLst>
          </a:prstGeom>
          <a:solidFill>
            <a:srgbClr val="F2EEEE"/>
          </a:solidFill>
          <a:ln/>
        </p:spPr>
      </p:sp>
      <p:sp>
        <p:nvSpPr>
          <p:cNvPr id="14" name="Text 12"/>
          <p:cNvSpPr/>
          <p:nvPr/>
        </p:nvSpPr>
        <p:spPr>
          <a:xfrm>
            <a:off x="6343789" y="4325938"/>
            <a:ext cx="5021137"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3 Segments</a:t>
            </a:r>
            <a:endParaRPr lang="en-US" sz="1600" dirty="0"/>
          </a:p>
        </p:txBody>
      </p:sp>
      <p:sp>
        <p:nvSpPr>
          <p:cNvPr id="15" name="Text 13"/>
          <p:cNvSpPr/>
          <p:nvPr/>
        </p:nvSpPr>
        <p:spPr>
          <a:xfrm>
            <a:off x="6343789" y="4683621"/>
            <a:ext cx="5021137" cy="264616"/>
          </a:xfrm>
          <a:prstGeom prst="rect">
            <a:avLst/>
          </a:prstGeom>
          <a:noFill/>
          <a:ln/>
        </p:spPr>
        <p:txBody>
          <a:bodyPr wrap="none" lIns="0" tIns="0" rIns="0" bIns="0" rtlCol="0" anchor="t"/>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Loyal, Returning, and New customers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88850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030303"/>
                </a:solidFill>
                <a:latin typeface="DM Sans SemiBold" pitchFamily="34" charset="0"/>
                <a:ea typeface="DM Sans SemiBold" pitchFamily="34" charset="-122"/>
                <a:cs typeface="DM Sans SemiBold" pitchFamily="34" charset="-120"/>
              </a:rPr>
              <a:t>Project Overview</a:t>
            </a:r>
            <a:endParaRPr lang="en-US" sz="3250" dirty="0"/>
          </a:p>
        </p:txBody>
      </p:sp>
      <p:sp>
        <p:nvSpPr>
          <p:cNvPr id="3" name="Shape 1"/>
          <p:cNvSpPr/>
          <p:nvPr/>
        </p:nvSpPr>
        <p:spPr>
          <a:xfrm>
            <a:off x="542415" y="1653282"/>
            <a:ext cx="5470785" cy="4316214"/>
          </a:xfrm>
          <a:prstGeom prst="roundRect">
            <a:avLst>
              <a:gd name="adj" fmla="val 575"/>
            </a:avLst>
          </a:prstGeom>
          <a:solidFill>
            <a:srgbClr val="5A6ED8"/>
          </a:solidFill>
          <a:ln/>
        </p:spPr>
      </p:sp>
      <p:sp>
        <p:nvSpPr>
          <p:cNvPr id="4" name="Text 2"/>
          <p:cNvSpPr/>
          <p:nvPr/>
        </p:nvSpPr>
        <p:spPr>
          <a:xfrm>
            <a:off x="707710" y="1818580"/>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Objective</a:t>
            </a:r>
            <a:endParaRPr lang="en-US" sz="1600" dirty="0"/>
          </a:p>
        </p:txBody>
      </p:sp>
      <p:sp>
        <p:nvSpPr>
          <p:cNvPr id="5" name="Text 3"/>
          <p:cNvSpPr/>
          <p:nvPr/>
        </p:nvSpPr>
        <p:spPr>
          <a:xfrm>
            <a:off x="707710" y="2242344"/>
            <a:ext cx="5140196"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Inter Medium" pitchFamily="34" charset="0"/>
                <a:ea typeface="Inter Medium" pitchFamily="34" charset="-122"/>
                <a:cs typeface="Inter Medium" pitchFamily="34" charset="-120"/>
              </a:rPr>
              <a:t>Analyze customer shopping behavior using transactional data from 3,900 purchases across various product categories. Uncover insights into spending patterns, customer segments, product preferences, and subscription behavior to guide strategic business decisions.</a:t>
            </a:r>
            <a:endParaRPr lang="en-US" sz="1300" dirty="0"/>
          </a:p>
        </p:txBody>
      </p:sp>
      <p:sp>
        <p:nvSpPr>
          <p:cNvPr id="6" name="Text 4"/>
          <p:cNvSpPr/>
          <p:nvPr/>
        </p:nvSpPr>
        <p:spPr>
          <a:xfrm>
            <a:off x="6303904" y="1818580"/>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030303"/>
                </a:solidFill>
                <a:latin typeface="DM Sans SemiBold" pitchFamily="34" charset="0"/>
                <a:ea typeface="DM Sans SemiBold" pitchFamily="34" charset="-122"/>
                <a:cs typeface="DM Sans SemiBold" pitchFamily="34" charset="-120"/>
              </a:rPr>
              <a:t>Analytical Focus Areas</a:t>
            </a:r>
            <a:endParaRPr lang="en-US" sz="16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65914" y="2268141"/>
            <a:ext cx="248041" cy="248047"/>
          </a:xfrm>
          <a:prstGeom prst="rect">
            <a:avLst/>
          </a:prstGeom>
        </p:spPr>
      </p:pic>
      <p:sp>
        <p:nvSpPr>
          <p:cNvPr id="8" name="Text 5"/>
          <p:cNvSpPr/>
          <p:nvPr/>
        </p:nvSpPr>
        <p:spPr>
          <a:xfrm>
            <a:off x="6841259" y="2263080"/>
            <a:ext cx="4695311"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Spending Patterns</a:t>
            </a:r>
            <a:endParaRPr lang="en-US" sz="1600" dirty="0"/>
          </a:p>
        </p:txBody>
      </p:sp>
      <p:sp>
        <p:nvSpPr>
          <p:cNvPr id="9" name="Text 6"/>
          <p:cNvSpPr/>
          <p:nvPr/>
        </p:nvSpPr>
        <p:spPr>
          <a:xfrm>
            <a:off x="6841259" y="2686844"/>
            <a:ext cx="469531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Average purchase amounts by gender, shipping type, and discount usage</a:t>
            </a:r>
            <a:endParaRPr lang="en-US" sz="13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65914" y="3551833"/>
            <a:ext cx="248041" cy="248047"/>
          </a:xfrm>
          <a:prstGeom prst="rect">
            <a:avLst/>
          </a:prstGeom>
        </p:spPr>
      </p:pic>
      <p:sp>
        <p:nvSpPr>
          <p:cNvPr id="11" name="Text 7"/>
          <p:cNvSpPr/>
          <p:nvPr/>
        </p:nvSpPr>
        <p:spPr>
          <a:xfrm>
            <a:off x="6841259" y="3546773"/>
            <a:ext cx="4695311"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Customer Segmentation</a:t>
            </a:r>
            <a:endParaRPr lang="en-US" sz="1600" dirty="0"/>
          </a:p>
        </p:txBody>
      </p:sp>
      <p:sp>
        <p:nvSpPr>
          <p:cNvPr id="12" name="Text 8"/>
          <p:cNvSpPr/>
          <p:nvPr/>
        </p:nvSpPr>
        <p:spPr>
          <a:xfrm>
            <a:off x="6841259" y="3970536"/>
            <a:ext cx="469531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Loyalty tiers and subscription behavior across the customer base</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5914" y="4835525"/>
            <a:ext cx="248041" cy="248047"/>
          </a:xfrm>
          <a:prstGeom prst="rect">
            <a:avLst/>
          </a:prstGeom>
        </p:spPr>
      </p:pic>
      <p:sp>
        <p:nvSpPr>
          <p:cNvPr id="14" name="Text 9"/>
          <p:cNvSpPr/>
          <p:nvPr/>
        </p:nvSpPr>
        <p:spPr>
          <a:xfrm>
            <a:off x="6841259" y="4830465"/>
            <a:ext cx="4695311" cy="258465"/>
          </a:xfrm>
          <a:prstGeom prst="rect">
            <a:avLst/>
          </a:prstGeom>
          <a:noFill/>
          <a:ln/>
        </p:spPr>
        <p:txBody>
          <a:bodyPr wrap="none" lIns="0" tIns="0" rIns="0" bIns="0" rtlCol="0" anchor="t"/>
          <a:lstStyle/>
          <a:p>
            <a:pPr algn="l" indent="0" marL="0">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Product Performance</a:t>
            </a:r>
            <a:endParaRPr lang="en-US" sz="1600" dirty="0"/>
          </a:p>
        </p:txBody>
      </p:sp>
      <p:sp>
        <p:nvSpPr>
          <p:cNvPr id="15" name="Text 10"/>
          <p:cNvSpPr/>
          <p:nvPr/>
        </p:nvSpPr>
        <p:spPr>
          <a:xfrm>
            <a:off x="6841259" y="5254228"/>
            <a:ext cx="469531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464646"/>
                </a:solidFill>
                <a:latin typeface="Inter Medium" pitchFamily="34" charset="0"/>
                <a:ea typeface="Inter Medium" pitchFamily="34" charset="-122"/>
                <a:cs typeface="Inter Medium" pitchFamily="34" charset="-120"/>
              </a:rPr>
              <a:t>Top-rated items and discount dependency by product category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94506"/>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030303"/>
                </a:solidFill>
                <a:latin typeface="DM Sans SemiBold" pitchFamily="34" charset="0"/>
                <a:ea typeface="DM Sans SemiBold" pitchFamily="34" charset="-122"/>
                <a:cs typeface="DM Sans SemiBold" pitchFamily="34" charset="-120"/>
              </a:rPr>
              <a:t>Dataset Summary</a:t>
            </a:r>
            <a:endParaRPr lang="en-US" sz="2900" dirty="0"/>
          </a:p>
        </p:txBody>
      </p:sp>
      <p:sp>
        <p:nvSpPr>
          <p:cNvPr id="3" name="Text 1"/>
          <p:cNvSpPr/>
          <p:nvPr/>
        </p:nvSpPr>
        <p:spPr>
          <a:xfrm>
            <a:off x="661475" y="1294507"/>
            <a:ext cx="5252807" cy="232470"/>
          </a:xfrm>
          <a:prstGeom prst="rect">
            <a:avLst/>
          </a:prstGeom>
          <a:noFill/>
          <a:ln/>
        </p:spPr>
        <p:txBody>
          <a:bodyPr wrap="none" lIns="0" tIns="0" rIns="0" bIns="0" rtlCol="0" anchor="t"/>
          <a:lstStyle/>
          <a:p>
            <a:pPr algn="l" indent="0" marL="0">
              <a:lnSpc>
                <a:spcPct val="104000"/>
              </a:lnSpc>
              <a:buNone/>
            </a:pPr>
            <a:r>
              <a:rPr lang="en-US" sz="1450" dirty="0">
                <a:solidFill>
                  <a:srgbClr val="030303"/>
                </a:solidFill>
                <a:latin typeface="DM Sans SemiBold" pitchFamily="34" charset="0"/>
                <a:ea typeface="DM Sans SemiBold" pitchFamily="34" charset="-122"/>
                <a:cs typeface="DM Sans SemiBold" pitchFamily="34" charset="-120"/>
              </a:rPr>
              <a:t>Dataset Dimensions</a:t>
            </a:r>
            <a:endParaRPr lang="en-US" sz="1450" dirty="0"/>
          </a:p>
        </p:txBody>
      </p:sp>
      <p:sp>
        <p:nvSpPr>
          <p:cNvPr id="4" name="Text 2"/>
          <p:cNvSpPr/>
          <p:nvPr/>
        </p:nvSpPr>
        <p:spPr>
          <a:xfrm>
            <a:off x="924100" y="1752104"/>
            <a:ext cx="4727457" cy="491232"/>
          </a:xfrm>
          <a:prstGeom prst="rect">
            <a:avLst/>
          </a:prstGeom>
          <a:noFill/>
          <a:ln/>
        </p:spPr>
        <p:txBody>
          <a:bodyPr wrap="none" lIns="0" tIns="0" rIns="0" bIns="0" rtlCol="0" anchor="t"/>
          <a:lstStyle/>
          <a:p>
            <a:pPr algn="ctr" indent="0" marL="0">
              <a:lnSpc>
                <a:spcPct val="83000"/>
              </a:lnSpc>
              <a:buNone/>
            </a:pPr>
            <a:r>
              <a:rPr lang="en-US" sz="3850" dirty="0">
                <a:solidFill>
                  <a:srgbClr val="464646"/>
                </a:solidFill>
                <a:latin typeface="DM Sans SemiBold" pitchFamily="34" charset="0"/>
                <a:ea typeface="DM Sans SemiBold" pitchFamily="34" charset="-122"/>
                <a:cs typeface="DM Sans SemiBold" pitchFamily="34" charset="-120"/>
              </a:rPr>
              <a:t>3,900</a:t>
            </a:r>
            <a:endParaRPr lang="en-US" sz="3850" dirty="0"/>
          </a:p>
        </p:txBody>
      </p:sp>
      <p:sp>
        <p:nvSpPr>
          <p:cNvPr id="5" name="Text 3"/>
          <p:cNvSpPr/>
          <p:nvPr/>
        </p:nvSpPr>
        <p:spPr>
          <a:xfrm>
            <a:off x="661475" y="2418159"/>
            <a:ext cx="5252807" cy="232470"/>
          </a:xfrm>
          <a:prstGeom prst="rect">
            <a:avLst/>
          </a:prstGeom>
          <a:noFill/>
          <a:ln/>
        </p:spPr>
        <p:txBody>
          <a:bodyPr wrap="none" lIns="0" tIns="0" rIns="0" bIns="0" rtlCol="0" anchor="t"/>
          <a:lstStyle/>
          <a:p>
            <a:pPr algn="ctr" indent="0" marL="0">
              <a:lnSpc>
                <a:spcPct val="104000"/>
              </a:lnSpc>
              <a:buNone/>
            </a:pPr>
            <a:r>
              <a:rPr lang="en-US" sz="1450" dirty="0">
                <a:solidFill>
                  <a:srgbClr val="464646"/>
                </a:solidFill>
                <a:latin typeface="DM Sans SemiBold" pitchFamily="34" charset="0"/>
                <a:ea typeface="DM Sans SemiBold" pitchFamily="34" charset="-122"/>
                <a:cs typeface="DM Sans SemiBold" pitchFamily="34" charset="-120"/>
              </a:rPr>
              <a:t>Total Rows</a:t>
            </a:r>
            <a:endParaRPr lang="en-US" sz="1450" dirty="0"/>
          </a:p>
        </p:txBody>
      </p:sp>
      <p:sp>
        <p:nvSpPr>
          <p:cNvPr id="6" name="Text 4"/>
          <p:cNvSpPr/>
          <p:nvPr/>
        </p:nvSpPr>
        <p:spPr>
          <a:xfrm>
            <a:off x="661475" y="2784574"/>
            <a:ext cx="5252807" cy="226219"/>
          </a:xfrm>
          <a:prstGeom prst="rect">
            <a:avLst/>
          </a:prstGeom>
          <a:noFill/>
          <a:ln/>
        </p:spPr>
        <p:txBody>
          <a:bodyPr wrap="none" lIns="0" tIns="0" rIns="0" bIns="0" rtlCol="0" anchor="t"/>
          <a:lstStyle/>
          <a:p>
            <a:pPr algn="ctr" indent="0" marL="0">
              <a:lnSpc>
                <a:spcPct val="127000"/>
              </a:lnSpc>
              <a:buNone/>
            </a:pPr>
            <a:r>
              <a:rPr lang="en-US" sz="1150" dirty="0">
                <a:solidFill>
                  <a:srgbClr val="464646"/>
                </a:solidFill>
                <a:latin typeface="Inter Medium" pitchFamily="34" charset="0"/>
                <a:ea typeface="Inter Medium" pitchFamily="34" charset="-122"/>
                <a:cs typeface="Inter Medium" pitchFamily="34" charset="-120"/>
              </a:rPr>
              <a:t>Individual purchase records</a:t>
            </a:r>
            <a:endParaRPr lang="en-US" sz="1150" dirty="0"/>
          </a:p>
        </p:txBody>
      </p:sp>
      <p:sp>
        <p:nvSpPr>
          <p:cNvPr id="7" name="Text 5"/>
          <p:cNvSpPr/>
          <p:nvPr/>
        </p:nvSpPr>
        <p:spPr>
          <a:xfrm>
            <a:off x="924100" y="3353098"/>
            <a:ext cx="4727457" cy="491232"/>
          </a:xfrm>
          <a:prstGeom prst="rect">
            <a:avLst/>
          </a:prstGeom>
          <a:noFill/>
          <a:ln/>
        </p:spPr>
        <p:txBody>
          <a:bodyPr wrap="none" lIns="0" tIns="0" rIns="0" bIns="0" rtlCol="0" anchor="t"/>
          <a:lstStyle/>
          <a:p>
            <a:pPr algn="ctr" indent="0" marL="0">
              <a:lnSpc>
                <a:spcPct val="83000"/>
              </a:lnSpc>
              <a:buNone/>
            </a:pPr>
            <a:r>
              <a:rPr lang="en-US" sz="3850" dirty="0">
                <a:solidFill>
                  <a:srgbClr val="464646"/>
                </a:solidFill>
                <a:latin typeface="DM Sans SemiBold" pitchFamily="34" charset="0"/>
                <a:ea typeface="DM Sans SemiBold" pitchFamily="34" charset="-122"/>
                <a:cs typeface="DM Sans SemiBold" pitchFamily="34" charset="-120"/>
              </a:rPr>
              <a:t>18</a:t>
            </a:r>
            <a:endParaRPr lang="en-US" sz="3850" dirty="0"/>
          </a:p>
        </p:txBody>
      </p:sp>
      <p:sp>
        <p:nvSpPr>
          <p:cNvPr id="8" name="Text 6"/>
          <p:cNvSpPr/>
          <p:nvPr/>
        </p:nvSpPr>
        <p:spPr>
          <a:xfrm>
            <a:off x="661475" y="4019153"/>
            <a:ext cx="5252807" cy="232470"/>
          </a:xfrm>
          <a:prstGeom prst="rect">
            <a:avLst/>
          </a:prstGeom>
          <a:noFill/>
          <a:ln/>
        </p:spPr>
        <p:txBody>
          <a:bodyPr wrap="none" lIns="0" tIns="0" rIns="0" bIns="0" rtlCol="0" anchor="t"/>
          <a:lstStyle/>
          <a:p>
            <a:pPr algn="ctr" indent="0" marL="0">
              <a:lnSpc>
                <a:spcPct val="104000"/>
              </a:lnSpc>
              <a:buNone/>
            </a:pPr>
            <a:r>
              <a:rPr lang="en-US" sz="1450" dirty="0">
                <a:solidFill>
                  <a:srgbClr val="464646"/>
                </a:solidFill>
                <a:latin typeface="DM Sans SemiBold" pitchFamily="34" charset="0"/>
                <a:ea typeface="DM Sans SemiBold" pitchFamily="34" charset="-122"/>
                <a:cs typeface="DM Sans SemiBold" pitchFamily="34" charset="-120"/>
              </a:rPr>
              <a:t>Columns</a:t>
            </a:r>
            <a:endParaRPr lang="en-US" sz="1450" dirty="0"/>
          </a:p>
        </p:txBody>
      </p:sp>
      <p:sp>
        <p:nvSpPr>
          <p:cNvPr id="9" name="Text 7"/>
          <p:cNvSpPr/>
          <p:nvPr/>
        </p:nvSpPr>
        <p:spPr>
          <a:xfrm>
            <a:off x="661475" y="4385568"/>
            <a:ext cx="5252807" cy="226219"/>
          </a:xfrm>
          <a:prstGeom prst="rect">
            <a:avLst/>
          </a:prstGeom>
          <a:noFill/>
          <a:ln/>
        </p:spPr>
        <p:txBody>
          <a:bodyPr wrap="none" lIns="0" tIns="0" rIns="0" bIns="0" rtlCol="0" anchor="t"/>
          <a:lstStyle/>
          <a:p>
            <a:pPr algn="ctr" indent="0" marL="0">
              <a:lnSpc>
                <a:spcPct val="127000"/>
              </a:lnSpc>
              <a:buNone/>
            </a:pPr>
            <a:r>
              <a:rPr lang="en-US" sz="1150" dirty="0">
                <a:solidFill>
                  <a:srgbClr val="464646"/>
                </a:solidFill>
                <a:latin typeface="Inter Medium" pitchFamily="34" charset="0"/>
                <a:ea typeface="Inter Medium" pitchFamily="34" charset="-122"/>
                <a:cs typeface="Inter Medium" pitchFamily="34" charset="-120"/>
              </a:rPr>
              <a:t>Features per transaction</a:t>
            </a:r>
            <a:endParaRPr lang="en-US" sz="1150" dirty="0"/>
          </a:p>
        </p:txBody>
      </p:sp>
      <p:sp>
        <p:nvSpPr>
          <p:cNvPr id="10" name="Text 8"/>
          <p:cNvSpPr/>
          <p:nvPr/>
        </p:nvSpPr>
        <p:spPr>
          <a:xfrm>
            <a:off x="924100" y="4954091"/>
            <a:ext cx="4727457" cy="491232"/>
          </a:xfrm>
          <a:prstGeom prst="rect">
            <a:avLst/>
          </a:prstGeom>
          <a:noFill/>
          <a:ln/>
        </p:spPr>
        <p:txBody>
          <a:bodyPr wrap="none" lIns="0" tIns="0" rIns="0" bIns="0" rtlCol="0" anchor="t"/>
          <a:lstStyle/>
          <a:p>
            <a:pPr algn="ctr" indent="0" marL="0">
              <a:lnSpc>
                <a:spcPct val="83000"/>
              </a:lnSpc>
              <a:buNone/>
            </a:pPr>
            <a:r>
              <a:rPr lang="en-US" sz="3850" dirty="0">
                <a:solidFill>
                  <a:srgbClr val="464646"/>
                </a:solidFill>
                <a:latin typeface="DM Sans SemiBold" pitchFamily="34" charset="0"/>
                <a:ea typeface="DM Sans SemiBold" pitchFamily="34" charset="-122"/>
                <a:cs typeface="DM Sans SemiBold" pitchFamily="34" charset="-120"/>
              </a:rPr>
              <a:t>37</a:t>
            </a:r>
            <a:endParaRPr lang="en-US" sz="3850" dirty="0"/>
          </a:p>
        </p:txBody>
      </p:sp>
      <p:sp>
        <p:nvSpPr>
          <p:cNvPr id="11" name="Text 9"/>
          <p:cNvSpPr/>
          <p:nvPr/>
        </p:nvSpPr>
        <p:spPr>
          <a:xfrm>
            <a:off x="661475" y="5620147"/>
            <a:ext cx="5252807" cy="232470"/>
          </a:xfrm>
          <a:prstGeom prst="rect">
            <a:avLst/>
          </a:prstGeom>
          <a:noFill/>
          <a:ln/>
        </p:spPr>
        <p:txBody>
          <a:bodyPr wrap="none" lIns="0" tIns="0" rIns="0" bIns="0" rtlCol="0" anchor="t"/>
          <a:lstStyle/>
          <a:p>
            <a:pPr algn="ctr" indent="0" marL="0">
              <a:lnSpc>
                <a:spcPct val="104000"/>
              </a:lnSpc>
              <a:buNone/>
            </a:pPr>
            <a:r>
              <a:rPr lang="en-US" sz="1450" dirty="0">
                <a:solidFill>
                  <a:srgbClr val="464646"/>
                </a:solidFill>
                <a:latin typeface="DM Sans SemiBold" pitchFamily="34" charset="0"/>
                <a:ea typeface="DM Sans SemiBold" pitchFamily="34" charset="-122"/>
                <a:cs typeface="DM Sans SemiBold" pitchFamily="34" charset="-120"/>
              </a:rPr>
              <a:t>Missing Values</a:t>
            </a:r>
            <a:endParaRPr lang="en-US" sz="1450" dirty="0"/>
          </a:p>
        </p:txBody>
      </p:sp>
      <p:sp>
        <p:nvSpPr>
          <p:cNvPr id="12" name="Text 10"/>
          <p:cNvSpPr/>
          <p:nvPr/>
        </p:nvSpPr>
        <p:spPr>
          <a:xfrm>
            <a:off x="661475" y="5986562"/>
            <a:ext cx="5252807" cy="226219"/>
          </a:xfrm>
          <a:prstGeom prst="rect">
            <a:avLst/>
          </a:prstGeom>
          <a:noFill/>
          <a:ln/>
        </p:spPr>
        <p:txBody>
          <a:bodyPr wrap="none" lIns="0" tIns="0" rIns="0" bIns="0" rtlCol="0" anchor="t"/>
          <a:lstStyle/>
          <a:p>
            <a:pPr algn="ctr" indent="0" marL="0">
              <a:lnSpc>
                <a:spcPct val="127000"/>
              </a:lnSpc>
              <a:buNone/>
            </a:pPr>
            <a:r>
              <a:rPr lang="en-US" sz="1150" dirty="0">
                <a:solidFill>
                  <a:srgbClr val="464646"/>
                </a:solidFill>
                <a:latin typeface="Inter Medium" pitchFamily="34" charset="0"/>
                <a:ea typeface="Inter Medium" pitchFamily="34" charset="-122"/>
                <a:cs typeface="Inter Medium" pitchFamily="34" charset="-120"/>
              </a:rPr>
              <a:t>In Review Rating column only</a:t>
            </a:r>
            <a:endParaRPr lang="en-US" sz="1150" dirty="0"/>
          </a:p>
        </p:txBody>
      </p:sp>
      <p:sp>
        <p:nvSpPr>
          <p:cNvPr id="13" name="Text 11"/>
          <p:cNvSpPr/>
          <p:nvPr/>
        </p:nvSpPr>
        <p:spPr>
          <a:xfrm>
            <a:off x="6283763" y="1294507"/>
            <a:ext cx="5252807" cy="232470"/>
          </a:xfrm>
          <a:prstGeom prst="rect">
            <a:avLst/>
          </a:prstGeom>
          <a:noFill/>
          <a:ln/>
        </p:spPr>
        <p:txBody>
          <a:bodyPr wrap="none" lIns="0" tIns="0" rIns="0" bIns="0" rtlCol="0" anchor="t"/>
          <a:lstStyle/>
          <a:p>
            <a:pPr algn="l" indent="0" marL="0">
              <a:lnSpc>
                <a:spcPct val="104000"/>
              </a:lnSpc>
              <a:buNone/>
            </a:pPr>
            <a:r>
              <a:rPr lang="en-US" sz="1450" dirty="0">
                <a:solidFill>
                  <a:srgbClr val="030303"/>
                </a:solidFill>
                <a:latin typeface="DM Sans SemiBold" pitchFamily="34" charset="0"/>
                <a:ea typeface="DM Sans SemiBold" pitchFamily="34" charset="-122"/>
                <a:cs typeface="DM Sans SemiBold" pitchFamily="34" charset="-120"/>
              </a:rPr>
              <a:t>Key Feature Groups</a:t>
            </a:r>
            <a:endParaRPr lang="en-US" sz="1450" dirty="0"/>
          </a:p>
        </p:txBody>
      </p:sp>
      <p:sp>
        <p:nvSpPr>
          <p:cNvPr id="14" name="Shape 12"/>
          <p:cNvSpPr/>
          <p:nvPr/>
        </p:nvSpPr>
        <p:spPr>
          <a:xfrm>
            <a:off x="6283763" y="1677690"/>
            <a:ext cx="2559383" cy="1387078"/>
          </a:xfrm>
          <a:prstGeom prst="roundRect">
            <a:avLst>
              <a:gd name="adj" fmla="val 1610"/>
            </a:avLst>
          </a:prstGeom>
          <a:solidFill>
            <a:srgbClr val="FFFFFF"/>
          </a:solidFill>
          <a:ln w="19050">
            <a:solidFill>
              <a:srgbClr val="D8D4D4"/>
            </a:solidFill>
            <a:prstDash val="solid"/>
          </a:ln>
        </p:spPr>
      </p:sp>
      <p:sp>
        <p:nvSpPr>
          <p:cNvPr id="15" name="Text 13"/>
          <p:cNvSpPr/>
          <p:nvPr/>
        </p:nvSpPr>
        <p:spPr>
          <a:xfrm>
            <a:off x="6451637" y="1845568"/>
            <a:ext cx="2223635" cy="464939"/>
          </a:xfrm>
          <a:prstGeom prst="rect">
            <a:avLst/>
          </a:prstGeom>
          <a:noFill/>
          <a:ln/>
        </p:spPr>
        <p:txBody>
          <a:bodyPr wrap="square" lIns="0" tIns="0" rIns="0" bIns="0" rtlCol="0" anchor="t">
            <a:normAutofit/>
          </a:bodyPr>
          <a:lstStyle/>
          <a:p>
            <a:pPr algn="l" indent="0" marL="0">
              <a:lnSpc>
                <a:spcPct val="104000"/>
              </a:lnSpc>
              <a:buNone/>
            </a:pPr>
            <a:r>
              <a:rPr lang="en-US" sz="1450" dirty="0">
                <a:solidFill>
                  <a:srgbClr val="464646"/>
                </a:solidFill>
                <a:latin typeface="DM Sans SemiBold" pitchFamily="34" charset="0"/>
                <a:ea typeface="DM Sans SemiBold" pitchFamily="34" charset="-122"/>
                <a:cs typeface="DM Sans SemiBold" pitchFamily="34" charset="-120"/>
              </a:rPr>
              <a:t>Customer Demographics</a:t>
            </a:r>
            <a:endParaRPr lang="en-US" sz="1450" dirty="0"/>
          </a:p>
        </p:txBody>
      </p:sp>
      <p:sp>
        <p:nvSpPr>
          <p:cNvPr id="16" name="Text 14"/>
          <p:cNvSpPr/>
          <p:nvPr/>
        </p:nvSpPr>
        <p:spPr>
          <a:xfrm>
            <a:off x="6451637" y="2444452"/>
            <a:ext cx="222363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464646"/>
                </a:solidFill>
                <a:latin typeface="Inter Medium" pitchFamily="34" charset="0"/>
                <a:ea typeface="Inter Medium" pitchFamily="34" charset="-122"/>
                <a:cs typeface="Inter Medium" pitchFamily="34" charset="-120"/>
              </a:rPr>
              <a:t>Age, Gender, Location, Subscription Status</a:t>
            </a:r>
            <a:endParaRPr lang="en-US" sz="1150" dirty="0"/>
          </a:p>
        </p:txBody>
      </p:sp>
      <p:sp>
        <p:nvSpPr>
          <p:cNvPr id="17" name="Shape 15"/>
          <p:cNvSpPr/>
          <p:nvPr/>
        </p:nvSpPr>
        <p:spPr>
          <a:xfrm>
            <a:off x="8977088" y="1677690"/>
            <a:ext cx="2559482" cy="1387078"/>
          </a:xfrm>
          <a:prstGeom prst="roundRect">
            <a:avLst>
              <a:gd name="adj" fmla="val 1610"/>
            </a:avLst>
          </a:prstGeom>
          <a:solidFill>
            <a:srgbClr val="FFFFFF"/>
          </a:solidFill>
          <a:ln w="19050">
            <a:solidFill>
              <a:srgbClr val="D8D4D4"/>
            </a:solidFill>
            <a:prstDash val="solid"/>
          </a:ln>
        </p:spPr>
      </p:sp>
      <p:sp>
        <p:nvSpPr>
          <p:cNvPr id="18" name="Text 16"/>
          <p:cNvSpPr/>
          <p:nvPr/>
        </p:nvSpPr>
        <p:spPr>
          <a:xfrm>
            <a:off x="9144962" y="1845568"/>
            <a:ext cx="2223734" cy="232470"/>
          </a:xfrm>
          <a:prstGeom prst="rect">
            <a:avLst/>
          </a:prstGeom>
          <a:noFill/>
          <a:ln/>
        </p:spPr>
        <p:txBody>
          <a:bodyPr wrap="none" lIns="0" tIns="0" rIns="0" bIns="0" rtlCol="0" anchor="t"/>
          <a:lstStyle/>
          <a:p>
            <a:pPr algn="l" indent="0" marL="0">
              <a:lnSpc>
                <a:spcPct val="104000"/>
              </a:lnSpc>
              <a:buNone/>
            </a:pPr>
            <a:r>
              <a:rPr lang="en-US" sz="1450" dirty="0">
                <a:solidFill>
                  <a:srgbClr val="464646"/>
                </a:solidFill>
                <a:latin typeface="DM Sans SemiBold" pitchFamily="34" charset="0"/>
                <a:ea typeface="DM Sans SemiBold" pitchFamily="34" charset="-122"/>
                <a:cs typeface="DM Sans SemiBold" pitchFamily="34" charset="-120"/>
              </a:rPr>
              <a:t>Purchase Details</a:t>
            </a:r>
            <a:endParaRPr lang="en-US" sz="1450" dirty="0"/>
          </a:p>
        </p:txBody>
      </p:sp>
      <p:sp>
        <p:nvSpPr>
          <p:cNvPr id="19" name="Text 17"/>
          <p:cNvSpPr/>
          <p:nvPr/>
        </p:nvSpPr>
        <p:spPr>
          <a:xfrm>
            <a:off x="9144962" y="2211983"/>
            <a:ext cx="2223734" cy="678656"/>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464646"/>
                </a:solidFill>
                <a:latin typeface="Inter Medium" pitchFamily="34" charset="0"/>
                <a:ea typeface="Inter Medium" pitchFamily="34" charset="-122"/>
                <a:cs typeface="Inter Medium" pitchFamily="34" charset="-120"/>
              </a:rPr>
              <a:t>Item Purchased, Category, Purchase Amount, Season, Size, Color</a:t>
            </a:r>
            <a:endParaRPr lang="en-US" sz="1150" dirty="0"/>
          </a:p>
        </p:txBody>
      </p:sp>
      <p:sp>
        <p:nvSpPr>
          <p:cNvPr id="20" name="Shape 18"/>
          <p:cNvSpPr/>
          <p:nvPr/>
        </p:nvSpPr>
        <p:spPr>
          <a:xfrm>
            <a:off x="6283763" y="3198713"/>
            <a:ext cx="5252807" cy="1154609"/>
          </a:xfrm>
          <a:prstGeom prst="roundRect">
            <a:avLst>
              <a:gd name="adj" fmla="val 1934"/>
            </a:avLst>
          </a:prstGeom>
          <a:solidFill>
            <a:srgbClr val="FFFFFF"/>
          </a:solidFill>
          <a:ln w="19050">
            <a:solidFill>
              <a:srgbClr val="D8D4D4"/>
            </a:solidFill>
            <a:prstDash val="solid"/>
          </a:ln>
        </p:spPr>
      </p:sp>
      <p:sp>
        <p:nvSpPr>
          <p:cNvPr id="21" name="Text 19"/>
          <p:cNvSpPr/>
          <p:nvPr/>
        </p:nvSpPr>
        <p:spPr>
          <a:xfrm>
            <a:off x="6451637" y="3366591"/>
            <a:ext cx="4917059" cy="232470"/>
          </a:xfrm>
          <a:prstGeom prst="rect">
            <a:avLst/>
          </a:prstGeom>
          <a:noFill/>
          <a:ln/>
        </p:spPr>
        <p:txBody>
          <a:bodyPr wrap="none" lIns="0" tIns="0" rIns="0" bIns="0" rtlCol="0" anchor="t"/>
          <a:lstStyle/>
          <a:p>
            <a:pPr algn="l" indent="0" marL="0">
              <a:lnSpc>
                <a:spcPct val="104000"/>
              </a:lnSpc>
              <a:buNone/>
            </a:pPr>
            <a:r>
              <a:rPr lang="en-US" sz="1450" dirty="0">
                <a:solidFill>
                  <a:srgbClr val="464646"/>
                </a:solidFill>
                <a:latin typeface="DM Sans SemiBold" pitchFamily="34" charset="0"/>
                <a:ea typeface="DM Sans SemiBold" pitchFamily="34" charset="-122"/>
                <a:cs typeface="DM Sans SemiBold" pitchFamily="34" charset="-120"/>
              </a:rPr>
              <a:t>Shopping Behavior</a:t>
            </a:r>
            <a:endParaRPr lang="en-US" sz="1450" dirty="0"/>
          </a:p>
        </p:txBody>
      </p:sp>
      <p:sp>
        <p:nvSpPr>
          <p:cNvPr id="22" name="Text 20"/>
          <p:cNvSpPr/>
          <p:nvPr/>
        </p:nvSpPr>
        <p:spPr>
          <a:xfrm>
            <a:off x="6451637" y="3733006"/>
            <a:ext cx="4917059"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464646"/>
                </a:solidFill>
                <a:latin typeface="Inter Medium" pitchFamily="34" charset="0"/>
                <a:ea typeface="Inter Medium" pitchFamily="34" charset="-122"/>
                <a:cs typeface="Inter Medium" pitchFamily="34" charset="-120"/>
              </a:rPr>
              <a:t>Discount Applied, Promo Code Used, Previous Purchases, Frequency of Purchases, Review Rating, Shipping Type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88578"/>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030303"/>
                </a:solidFill>
                <a:latin typeface="DM Sans SemiBold" pitchFamily="34" charset="0"/>
                <a:ea typeface="DM Sans SemiBold" pitchFamily="34" charset="-122"/>
                <a:cs typeface="DM Sans SemiBold" pitchFamily="34" charset="-120"/>
              </a:rPr>
              <a:t>Data Preparation &amp; Cleaning</a:t>
            </a:r>
            <a:endParaRPr lang="en-US" sz="3050" dirty="0"/>
          </a:p>
        </p:txBody>
      </p:sp>
      <p:sp>
        <p:nvSpPr>
          <p:cNvPr id="3" name="Text 1"/>
          <p:cNvSpPr/>
          <p:nvPr/>
        </p:nvSpPr>
        <p:spPr>
          <a:xfrm>
            <a:off x="661475" y="1477963"/>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A structured pipeline was applied to transform raw transactional data into an analysis-ready dataset, culminating in PostgreSQL integration for scalable querying.</a:t>
            </a:r>
            <a:endParaRPr lang="en-US" sz="1200" dirty="0"/>
          </a:p>
        </p:txBody>
      </p:sp>
      <p:sp>
        <p:nvSpPr>
          <p:cNvPr id="4" name="Text 2"/>
          <p:cNvSpPr/>
          <p:nvPr/>
        </p:nvSpPr>
        <p:spPr>
          <a:xfrm>
            <a:off x="661475" y="2136180"/>
            <a:ext cx="314218" cy="196354"/>
          </a:xfrm>
          <a:prstGeom prst="rect">
            <a:avLst/>
          </a:prstGeom>
          <a:noFill/>
          <a:ln/>
        </p:spPr>
        <p:txBody>
          <a:bodyPr wrap="none" lIns="0" tIns="0" rIns="0" bIns="0" rtlCol="0" anchor="ctr"/>
          <a:lstStyle/>
          <a:p>
            <a:pPr algn="l" indent="0" marL="0">
              <a:lnSpc>
                <a:spcPct val="100000"/>
              </a:lnSpc>
              <a:buNone/>
            </a:pPr>
            <a:r>
              <a:rPr lang="en-US" sz="1200" dirty="0">
                <a:solidFill>
                  <a:srgbClr val="464646"/>
                </a:solidFill>
                <a:latin typeface="DM Sans Light" pitchFamily="34" charset="0"/>
                <a:ea typeface="DM Sans Light" pitchFamily="34" charset="-122"/>
                <a:cs typeface="DM Sans Light" pitchFamily="34" charset="-120"/>
              </a:rPr>
              <a:t>01</a:t>
            </a:r>
            <a:endParaRPr lang="en-US" sz="1200" dirty="0"/>
          </a:p>
        </p:txBody>
      </p:sp>
      <p:sp>
        <p:nvSpPr>
          <p:cNvPr id="5" name="Shape 3"/>
          <p:cNvSpPr/>
          <p:nvPr/>
        </p:nvSpPr>
        <p:spPr>
          <a:xfrm>
            <a:off x="661475" y="2384028"/>
            <a:ext cx="5359762" cy="19050"/>
          </a:xfrm>
          <a:prstGeom prst="rect">
            <a:avLst/>
          </a:prstGeom>
          <a:solidFill>
            <a:srgbClr val="1C9770"/>
          </a:solidFill>
          <a:ln/>
        </p:spPr>
      </p:sp>
      <p:sp>
        <p:nvSpPr>
          <p:cNvPr id="6" name="Text 4"/>
          <p:cNvSpPr/>
          <p:nvPr/>
        </p:nvSpPr>
        <p:spPr>
          <a:xfrm>
            <a:off x="661475" y="2500610"/>
            <a:ext cx="5359762"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Data Loading</a:t>
            </a:r>
            <a:endParaRPr lang="en-US" sz="1500" dirty="0"/>
          </a:p>
        </p:txBody>
      </p:sp>
      <p:sp>
        <p:nvSpPr>
          <p:cNvPr id="7" name="Text 5"/>
          <p:cNvSpPr/>
          <p:nvPr/>
        </p:nvSpPr>
        <p:spPr>
          <a:xfrm>
            <a:off x="661475" y="2835672"/>
            <a:ext cx="5359762" cy="26422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Imported the dataset using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pandas</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for initial inspection</a:t>
            </a:r>
            <a:endParaRPr lang="en-US" sz="1200" dirty="0"/>
          </a:p>
        </p:txBody>
      </p:sp>
      <p:sp>
        <p:nvSpPr>
          <p:cNvPr id="8" name="Text 6"/>
          <p:cNvSpPr/>
          <p:nvPr/>
        </p:nvSpPr>
        <p:spPr>
          <a:xfrm>
            <a:off x="6170458" y="2136180"/>
            <a:ext cx="314218" cy="196354"/>
          </a:xfrm>
          <a:prstGeom prst="rect">
            <a:avLst/>
          </a:prstGeom>
          <a:noFill/>
          <a:ln/>
        </p:spPr>
        <p:txBody>
          <a:bodyPr wrap="none" lIns="0" tIns="0" rIns="0" bIns="0" rtlCol="0" anchor="ctr"/>
          <a:lstStyle/>
          <a:p>
            <a:pPr algn="l" indent="0" marL="0">
              <a:lnSpc>
                <a:spcPct val="100000"/>
              </a:lnSpc>
              <a:buNone/>
            </a:pPr>
            <a:r>
              <a:rPr lang="en-US" sz="1200" dirty="0">
                <a:solidFill>
                  <a:srgbClr val="464646"/>
                </a:solidFill>
                <a:latin typeface="DM Sans Light" pitchFamily="34" charset="0"/>
                <a:ea typeface="DM Sans Light" pitchFamily="34" charset="-122"/>
                <a:cs typeface="DM Sans Light" pitchFamily="34" charset="-120"/>
              </a:rPr>
              <a:t>02</a:t>
            </a:r>
            <a:endParaRPr lang="en-US" sz="1200" dirty="0"/>
          </a:p>
        </p:txBody>
      </p:sp>
      <p:sp>
        <p:nvSpPr>
          <p:cNvPr id="9" name="Shape 7"/>
          <p:cNvSpPr/>
          <p:nvPr/>
        </p:nvSpPr>
        <p:spPr>
          <a:xfrm>
            <a:off x="6170458" y="2384028"/>
            <a:ext cx="5359762" cy="19050"/>
          </a:xfrm>
          <a:prstGeom prst="rect">
            <a:avLst/>
          </a:prstGeom>
          <a:solidFill>
            <a:srgbClr val="1C9770"/>
          </a:solidFill>
          <a:ln/>
        </p:spPr>
      </p:sp>
      <p:sp>
        <p:nvSpPr>
          <p:cNvPr id="10" name="Text 8"/>
          <p:cNvSpPr/>
          <p:nvPr/>
        </p:nvSpPr>
        <p:spPr>
          <a:xfrm>
            <a:off x="6170458" y="2500610"/>
            <a:ext cx="5359762"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Initial Exploration</a:t>
            </a:r>
            <a:endParaRPr lang="en-US" sz="1500" dirty="0"/>
          </a:p>
        </p:txBody>
      </p:sp>
      <p:sp>
        <p:nvSpPr>
          <p:cNvPr id="11" name="Text 9"/>
          <p:cNvSpPr/>
          <p:nvPr/>
        </p:nvSpPr>
        <p:spPr>
          <a:xfrm>
            <a:off x="6170458" y="2835672"/>
            <a:ext cx="5359762" cy="26422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Used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df.info()</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to check structure and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.describe()</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for summary statistics</a:t>
            </a:r>
            <a:endParaRPr lang="en-US" sz="1200" dirty="0"/>
          </a:p>
        </p:txBody>
      </p:sp>
      <p:sp>
        <p:nvSpPr>
          <p:cNvPr id="12" name="Text 10"/>
          <p:cNvSpPr/>
          <p:nvPr/>
        </p:nvSpPr>
        <p:spPr>
          <a:xfrm>
            <a:off x="661475" y="3366889"/>
            <a:ext cx="314218" cy="196354"/>
          </a:xfrm>
          <a:prstGeom prst="rect">
            <a:avLst/>
          </a:prstGeom>
          <a:noFill/>
          <a:ln/>
        </p:spPr>
        <p:txBody>
          <a:bodyPr wrap="none" lIns="0" tIns="0" rIns="0" bIns="0" rtlCol="0" anchor="ctr"/>
          <a:lstStyle/>
          <a:p>
            <a:pPr algn="l" indent="0" marL="0">
              <a:lnSpc>
                <a:spcPct val="100000"/>
              </a:lnSpc>
              <a:buNone/>
            </a:pPr>
            <a:r>
              <a:rPr lang="en-US" sz="1200" dirty="0">
                <a:solidFill>
                  <a:srgbClr val="464646"/>
                </a:solidFill>
                <a:latin typeface="DM Sans Light" pitchFamily="34" charset="0"/>
                <a:ea typeface="DM Sans Light" pitchFamily="34" charset="-122"/>
                <a:cs typeface="DM Sans Light" pitchFamily="34" charset="-120"/>
              </a:rPr>
              <a:t>03</a:t>
            </a:r>
            <a:endParaRPr lang="en-US" sz="1200" dirty="0"/>
          </a:p>
        </p:txBody>
      </p:sp>
      <p:sp>
        <p:nvSpPr>
          <p:cNvPr id="13" name="Shape 11"/>
          <p:cNvSpPr/>
          <p:nvPr/>
        </p:nvSpPr>
        <p:spPr>
          <a:xfrm>
            <a:off x="661475" y="3614738"/>
            <a:ext cx="5359762" cy="19050"/>
          </a:xfrm>
          <a:prstGeom prst="rect">
            <a:avLst/>
          </a:prstGeom>
          <a:solidFill>
            <a:srgbClr val="1C9770"/>
          </a:solidFill>
          <a:ln/>
        </p:spPr>
      </p:sp>
      <p:sp>
        <p:nvSpPr>
          <p:cNvPr id="14" name="Text 12"/>
          <p:cNvSpPr/>
          <p:nvPr/>
        </p:nvSpPr>
        <p:spPr>
          <a:xfrm>
            <a:off x="661475" y="3731320"/>
            <a:ext cx="5359762"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Missing Data Handling</a:t>
            </a:r>
            <a:endParaRPr lang="en-US" sz="1500" dirty="0"/>
          </a:p>
        </p:txBody>
      </p:sp>
      <p:sp>
        <p:nvSpPr>
          <p:cNvPr id="15" name="Text 13"/>
          <p:cNvSpPr/>
          <p:nvPr/>
        </p:nvSpPr>
        <p:spPr>
          <a:xfrm>
            <a:off x="661475" y="4066381"/>
            <a:ext cx="5359762"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Imputed missing values in Review Rating column using the median rating of each product category</a:t>
            </a:r>
            <a:endParaRPr lang="en-US" sz="1200" dirty="0"/>
          </a:p>
        </p:txBody>
      </p:sp>
      <p:sp>
        <p:nvSpPr>
          <p:cNvPr id="16" name="Text 14"/>
          <p:cNvSpPr/>
          <p:nvPr/>
        </p:nvSpPr>
        <p:spPr>
          <a:xfrm>
            <a:off x="6170458" y="3366889"/>
            <a:ext cx="314218" cy="196354"/>
          </a:xfrm>
          <a:prstGeom prst="rect">
            <a:avLst/>
          </a:prstGeom>
          <a:noFill/>
          <a:ln/>
        </p:spPr>
        <p:txBody>
          <a:bodyPr wrap="none" lIns="0" tIns="0" rIns="0" bIns="0" rtlCol="0" anchor="ctr"/>
          <a:lstStyle/>
          <a:p>
            <a:pPr algn="l" indent="0" marL="0">
              <a:lnSpc>
                <a:spcPct val="100000"/>
              </a:lnSpc>
              <a:buNone/>
            </a:pPr>
            <a:r>
              <a:rPr lang="en-US" sz="1200" dirty="0">
                <a:solidFill>
                  <a:srgbClr val="464646"/>
                </a:solidFill>
                <a:latin typeface="DM Sans Light" pitchFamily="34" charset="0"/>
                <a:ea typeface="DM Sans Light" pitchFamily="34" charset="-122"/>
                <a:cs typeface="DM Sans Light" pitchFamily="34" charset="-120"/>
              </a:rPr>
              <a:t>04</a:t>
            </a:r>
            <a:endParaRPr lang="en-US" sz="1200" dirty="0"/>
          </a:p>
        </p:txBody>
      </p:sp>
      <p:sp>
        <p:nvSpPr>
          <p:cNvPr id="17" name="Shape 15"/>
          <p:cNvSpPr/>
          <p:nvPr/>
        </p:nvSpPr>
        <p:spPr>
          <a:xfrm>
            <a:off x="6170458" y="3614738"/>
            <a:ext cx="5359762" cy="19050"/>
          </a:xfrm>
          <a:prstGeom prst="rect">
            <a:avLst/>
          </a:prstGeom>
          <a:solidFill>
            <a:srgbClr val="1C9770"/>
          </a:solidFill>
          <a:ln/>
        </p:spPr>
      </p:sp>
      <p:sp>
        <p:nvSpPr>
          <p:cNvPr id="18" name="Text 16"/>
          <p:cNvSpPr/>
          <p:nvPr/>
        </p:nvSpPr>
        <p:spPr>
          <a:xfrm>
            <a:off x="6170458" y="3731320"/>
            <a:ext cx="5359762"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Column Standardization</a:t>
            </a:r>
            <a:endParaRPr lang="en-US" sz="1500" dirty="0"/>
          </a:p>
        </p:txBody>
      </p:sp>
      <p:sp>
        <p:nvSpPr>
          <p:cNvPr id="19" name="Text 17"/>
          <p:cNvSpPr/>
          <p:nvPr/>
        </p:nvSpPr>
        <p:spPr>
          <a:xfrm>
            <a:off x="6170458" y="4066381"/>
            <a:ext cx="5359762"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Renamed columns to snake_case for better readability and consistency</a:t>
            </a:r>
            <a:endParaRPr lang="en-US" sz="1200" dirty="0"/>
          </a:p>
        </p:txBody>
      </p:sp>
      <p:sp>
        <p:nvSpPr>
          <p:cNvPr id="20" name="Text 18"/>
          <p:cNvSpPr/>
          <p:nvPr/>
        </p:nvSpPr>
        <p:spPr>
          <a:xfrm>
            <a:off x="661475" y="4823718"/>
            <a:ext cx="314218" cy="196354"/>
          </a:xfrm>
          <a:prstGeom prst="rect">
            <a:avLst/>
          </a:prstGeom>
          <a:noFill/>
          <a:ln/>
        </p:spPr>
        <p:txBody>
          <a:bodyPr wrap="none" lIns="0" tIns="0" rIns="0" bIns="0" rtlCol="0" anchor="ctr"/>
          <a:lstStyle/>
          <a:p>
            <a:pPr algn="l" indent="0" marL="0">
              <a:lnSpc>
                <a:spcPct val="100000"/>
              </a:lnSpc>
              <a:buNone/>
            </a:pPr>
            <a:r>
              <a:rPr lang="en-US" sz="1200" dirty="0">
                <a:solidFill>
                  <a:srgbClr val="464646"/>
                </a:solidFill>
                <a:latin typeface="DM Sans Light" pitchFamily="34" charset="0"/>
                <a:ea typeface="DM Sans Light" pitchFamily="34" charset="-122"/>
                <a:cs typeface="DM Sans Light" pitchFamily="34" charset="-120"/>
              </a:rPr>
              <a:t>05</a:t>
            </a:r>
            <a:endParaRPr lang="en-US" sz="1200" dirty="0"/>
          </a:p>
        </p:txBody>
      </p:sp>
      <p:sp>
        <p:nvSpPr>
          <p:cNvPr id="21" name="Shape 19"/>
          <p:cNvSpPr/>
          <p:nvPr/>
        </p:nvSpPr>
        <p:spPr>
          <a:xfrm>
            <a:off x="661475" y="5071566"/>
            <a:ext cx="5359762" cy="19050"/>
          </a:xfrm>
          <a:prstGeom prst="rect">
            <a:avLst/>
          </a:prstGeom>
          <a:solidFill>
            <a:srgbClr val="1C9770"/>
          </a:solidFill>
          <a:ln/>
        </p:spPr>
      </p:sp>
      <p:sp>
        <p:nvSpPr>
          <p:cNvPr id="22" name="Text 20"/>
          <p:cNvSpPr/>
          <p:nvPr/>
        </p:nvSpPr>
        <p:spPr>
          <a:xfrm>
            <a:off x="661475" y="5188148"/>
            <a:ext cx="5359762"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Feature Engineering</a:t>
            </a:r>
            <a:endParaRPr lang="en-US" sz="1500" dirty="0"/>
          </a:p>
        </p:txBody>
      </p:sp>
      <p:sp>
        <p:nvSpPr>
          <p:cNvPr id="23" name="Text 21"/>
          <p:cNvSpPr/>
          <p:nvPr/>
        </p:nvSpPr>
        <p:spPr>
          <a:xfrm>
            <a:off x="661475" y="5523210"/>
            <a:ext cx="5359762" cy="5284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Created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age_group</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column by binning customer ages and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purchase_frequency_days</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from purchase data</a:t>
            </a:r>
            <a:endParaRPr lang="en-US" sz="1200" dirty="0"/>
          </a:p>
        </p:txBody>
      </p:sp>
      <p:sp>
        <p:nvSpPr>
          <p:cNvPr id="24" name="Text 22"/>
          <p:cNvSpPr/>
          <p:nvPr/>
        </p:nvSpPr>
        <p:spPr>
          <a:xfrm>
            <a:off x="6170458" y="4823718"/>
            <a:ext cx="314218" cy="196354"/>
          </a:xfrm>
          <a:prstGeom prst="rect">
            <a:avLst/>
          </a:prstGeom>
          <a:noFill/>
          <a:ln/>
        </p:spPr>
        <p:txBody>
          <a:bodyPr wrap="none" lIns="0" tIns="0" rIns="0" bIns="0" rtlCol="0" anchor="ctr"/>
          <a:lstStyle/>
          <a:p>
            <a:pPr algn="l" indent="0" marL="0">
              <a:lnSpc>
                <a:spcPct val="100000"/>
              </a:lnSpc>
              <a:buNone/>
            </a:pPr>
            <a:r>
              <a:rPr lang="en-US" sz="1200" dirty="0">
                <a:solidFill>
                  <a:srgbClr val="464646"/>
                </a:solidFill>
                <a:latin typeface="DM Sans Light" pitchFamily="34" charset="0"/>
                <a:ea typeface="DM Sans Light" pitchFamily="34" charset="-122"/>
                <a:cs typeface="DM Sans Light" pitchFamily="34" charset="-120"/>
              </a:rPr>
              <a:t>06</a:t>
            </a:r>
            <a:endParaRPr lang="en-US" sz="1200" dirty="0"/>
          </a:p>
        </p:txBody>
      </p:sp>
      <p:sp>
        <p:nvSpPr>
          <p:cNvPr id="25" name="Shape 23"/>
          <p:cNvSpPr/>
          <p:nvPr/>
        </p:nvSpPr>
        <p:spPr>
          <a:xfrm>
            <a:off x="6170458" y="5071566"/>
            <a:ext cx="5359762" cy="19050"/>
          </a:xfrm>
          <a:prstGeom prst="rect">
            <a:avLst/>
          </a:prstGeom>
          <a:solidFill>
            <a:srgbClr val="1C9770"/>
          </a:solidFill>
          <a:ln/>
        </p:spPr>
      </p:sp>
      <p:sp>
        <p:nvSpPr>
          <p:cNvPr id="26" name="Text 24"/>
          <p:cNvSpPr/>
          <p:nvPr/>
        </p:nvSpPr>
        <p:spPr>
          <a:xfrm>
            <a:off x="6170458" y="5188148"/>
            <a:ext cx="5359762"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Consistency Check &amp; DB Integration</a:t>
            </a:r>
            <a:endParaRPr lang="en-US" sz="1500" dirty="0"/>
          </a:p>
        </p:txBody>
      </p:sp>
      <p:sp>
        <p:nvSpPr>
          <p:cNvPr id="27" name="Text 25"/>
          <p:cNvSpPr/>
          <p:nvPr/>
        </p:nvSpPr>
        <p:spPr>
          <a:xfrm>
            <a:off x="6170458" y="5523210"/>
            <a:ext cx="5359762" cy="50938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Verified redundancy between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discount_applied</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and </a:t>
            </a:r>
            <a:pPr algn="l" indent="0" marL="0">
              <a:lnSpc>
                <a:spcPct val="130000"/>
              </a:lnSpc>
              <a:buNone/>
            </a:pPr>
            <a:r>
              <a:rPr lang="en-US" sz="1200" dirty="0">
                <a:solidFill>
                  <a:srgbClr val="464646"/>
                </a:solidFill>
                <a:highlight>
                  <a:srgbClr val="F2F2F2"/>
                </a:highlight>
                <a:latin typeface="Consolas" pitchFamily="34" charset="0"/>
                <a:ea typeface="Consolas" pitchFamily="34" charset="-122"/>
                <a:cs typeface="Consolas" pitchFamily="34" charset="-120"/>
              </a:rPr>
              <a:t>promo_code_used</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dropped the latter. Loaded cleaned DataFrame into PostgreSQL.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79834"/>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030303"/>
                </a:solidFill>
                <a:latin typeface="DM Sans SemiBold" pitchFamily="34" charset="0"/>
                <a:ea typeface="DM Sans SemiBold" pitchFamily="34" charset="-122"/>
                <a:cs typeface="DM Sans SemiBold" pitchFamily="34" charset="-120"/>
              </a:rPr>
              <a:t>Revenue by Gender</a:t>
            </a:r>
            <a:endParaRPr lang="en-US" sz="3050" dirty="0"/>
          </a:p>
        </p:txBody>
      </p:sp>
      <p:sp>
        <p:nvSpPr>
          <p:cNvPr id="3" name="Text 1"/>
          <p:cNvSpPr/>
          <p:nvPr/>
        </p:nvSpPr>
        <p:spPr>
          <a:xfrm>
            <a:off x="661475" y="1369219"/>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Male customers account for a substantially larger share of total revenue, contributing more than double the revenue of female customers across the 3,900-transaction dataset.</a:t>
            </a:r>
            <a:endParaRPr lang="en-US" sz="1200" dirty="0"/>
          </a:p>
        </p:txBody>
      </p:sp>
      <p:pic>
        <p:nvPicPr>
          <p:cNvPr id="4" name="Image 0" descr="preencoded.png">    </p:cNvPr>
          <p:cNvPicPr>
            <a:picLocks noChangeAspect="1"/>
          </p:cNvPicPr>
          <p:nvPr/>
        </p:nvPicPr>
        <p:blipFill>
          <a:blip r:embed="rId1"/>
          <a:stretch>
            <a:fillRect/>
          </a:stretch>
        </p:blipFill>
        <p:spPr>
          <a:xfrm>
            <a:off x="661475" y="2195314"/>
            <a:ext cx="5514936" cy="3787080"/>
          </a:xfrm>
          <a:prstGeom prst="rect">
            <a:avLst/>
          </a:prstGeom>
        </p:spPr>
      </p:pic>
      <p:sp>
        <p:nvSpPr>
          <p:cNvPr id="5" name="Text 2"/>
          <p:cNvSpPr/>
          <p:nvPr/>
        </p:nvSpPr>
        <p:spPr>
          <a:xfrm>
            <a:off x="6856439" y="2176661"/>
            <a:ext cx="4680031" cy="245566"/>
          </a:xfrm>
          <a:prstGeom prst="rect">
            <a:avLst/>
          </a:prstGeom>
          <a:noFill/>
          <a:ln/>
        </p:spPr>
        <p:txBody>
          <a:bodyPr wrap="none" lIns="0" tIns="0" rIns="0" bIns="0" rtlCol="0" anchor="t"/>
          <a:lstStyle/>
          <a:p>
            <a:pPr algn="l" indent="0" marL="0">
              <a:lnSpc>
                <a:spcPct val="104000"/>
              </a:lnSpc>
              <a:buNone/>
            </a:pPr>
            <a:r>
              <a:rPr lang="en-US" sz="1500" dirty="0">
                <a:solidFill>
                  <a:srgbClr val="030303"/>
                </a:solidFill>
                <a:latin typeface="DM Sans SemiBold" pitchFamily="34" charset="0"/>
                <a:ea typeface="DM Sans SemiBold" pitchFamily="34" charset="-122"/>
                <a:cs typeface="DM Sans SemiBold" pitchFamily="34" charset="-120"/>
              </a:rPr>
              <a:t>Key Findings</a:t>
            </a:r>
            <a:endParaRPr lang="en-US" sz="15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56439" y="2590105"/>
            <a:ext cx="4680031" cy="992188"/>
          </a:xfrm>
          <a:prstGeom prst="rect">
            <a:avLst/>
          </a:prstGeom>
        </p:spPr>
      </p:pic>
      <p:sp>
        <p:nvSpPr>
          <p:cNvPr id="7" name="Text 3"/>
          <p:cNvSpPr/>
          <p:nvPr/>
        </p:nvSpPr>
        <p:spPr>
          <a:xfrm>
            <a:off x="7108746" y="2766219"/>
            <a:ext cx="4251616"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Male Revenue</a:t>
            </a:r>
            <a:endParaRPr lang="en-US" sz="1500" dirty="0"/>
          </a:p>
        </p:txBody>
      </p:sp>
      <p:sp>
        <p:nvSpPr>
          <p:cNvPr id="8" name="Text 4"/>
          <p:cNvSpPr/>
          <p:nvPr/>
        </p:nvSpPr>
        <p:spPr>
          <a:xfrm>
            <a:off x="7108746" y="3161010"/>
            <a:ext cx="4251616" cy="245170"/>
          </a:xfrm>
          <a:prstGeom prst="rect">
            <a:avLst/>
          </a:prstGeom>
          <a:noFill/>
          <a:ln/>
        </p:spPr>
        <p:txBody>
          <a:bodyPr wrap="none" lIns="0" tIns="0" rIns="0" bIns="0" rtlCol="0" anchor="t"/>
          <a:lstStyle/>
          <a:p>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$157,890</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 67.7% of total revenue</a:t>
            </a:r>
            <a:endParaRPr lang="en-US" sz="12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56439" y="3731518"/>
            <a:ext cx="4680031" cy="992188"/>
          </a:xfrm>
          <a:prstGeom prst="rect">
            <a:avLst/>
          </a:prstGeom>
        </p:spPr>
      </p:pic>
      <p:sp>
        <p:nvSpPr>
          <p:cNvPr id="10" name="Text 5"/>
          <p:cNvSpPr/>
          <p:nvPr/>
        </p:nvSpPr>
        <p:spPr>
          <a:xfrm>
            <a:off x="7108746" y="3907631"/>
            <a:ext cx="4251616"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Female Revenue</a:t>
            </a:r>
            <a:endParaRPr lang="en-US" sz="1500" dirty="0"/>
          </a:p>
        </p:txBody>
      </p:sp>
      <p:sp>
        <p:nvSpPr>
          <p:cNvPr id="11" name="Text 6"/>
          <p:cNvSpPr/>
          <p:nvPr/>
        </p:nvSpPr>
        <p:spPr>
          <a:xfrm>
            <a:off x="7108746" y="4302423"/>
            <a:ext cx="4251616" cy="245170"/>
          </a:xfrm>
          <a:prstGeom prst="rect">
            <a:avLst/>
          </a:prstGeom>
          <a:noFill/>
          <a:ln/>
        </p:spPr>
        <p:txBody>
          <a:bodyPr wrap="none" lIns="0" tIns="0" rIns="0" bIns="0" rtlCol="0" anchor="t"/>
          <a:lstStyle/>
          <a:p>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$75,191</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 32.3% of total revenue</a:t>
            </a:r>
            <a:endParaRPr lang="en-US" sz="120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56439" y="4872930"/>
            <a:ext cx="4680031" cy="1237357"/>
          </a:xfrm>
          <a:prstGeom prst="rect">
            <a:avLst/>
          </a:prstGeom>
        </p:spPr>
      </p:pic>
      <p:sp>
        <p:nvSpPr>
          <p:cNvPr id="13" name="Text 7"/>
          <p:cNvSpPr/>
          <p:nvPr/>
        </p:nvSpPr>
        <p:spPr>
          <a:xfrm>
            <a:off x="7108746" y="5049044"/>
            <a:ext cx="4251616"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Revenue Gap</a:t>
            </a:r>
            <a:endParaRPr lang="en-US" sz="1500" dirty="0"/>
          </a:p>
        </p:txBody>
      </p:sp>
      <p:sp>
        <p:nvSpPr>
          <p:cNvPr id="14" name="Text 8"/>
          <p:cNvSpPr/>
          <p:nvPr/>
        </p:nvSpPr>
        <p:spPr>
          <a:xfrm>
            <a:off x="7108746" y="5443835"/>
            <a:ext cx="4251616" cy="49033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$82,699</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difference between segments — a 2.1× multiplier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48308"/>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030303"/>
                </a:solidFill>
                <a:latin typeface="DM Sans SemiBold" pitchFamily="34" charset="0"/>
                <a:ea typeface="DM Sans SemiBold" pitchFamily="34" charset="-122"/>
                <a:cs typeface="DM Sans SemiBold" pitchFamily="34" charset="-120"/>
              </a:rPr>
              <a:t>High-Spending Discount Users</a:t>
            </a:r>
            <a:endParaRPr lang="en-US" sz="3050" dirty="0"/>
          </a:p>
        </p:txBody>
      </p:sp>
      <p:sp>
        <p:nvSpPr>
          <p:cNvPr id="3" name="Shape 1"/>
          <p:cNvSpPr/>
          <p:nvPr/>
        </p:nvSpPr>
        <p:spPr>
          <a:xfrm>
            <a:off x="548269" y="1463080"/>
            <a:ext cx="5469098" cy="4646613"/>
          </a:xfrm>
          <a:prstGeom prst="roundRect">
            <a:avLst>
              <a:gd name="adj" fmla="val 507"/>
            </a:avLst>
          </a:prstGeom>
          <a:solidFill>
            <a:srgbClr val="5A6ED8"/>
          </a:solidFill>
          <a:ln/>
        </p:spPr>
      </p:sp>
      <p:sp>
        <p:nvSpPr>
          <p:cNvPr id="4" name="Text 2"/>
          <p:cNvSpPr/>
          <p:nvPr/>
        </p:nvSpPr>
        <p:spPr>
          <a:xfrm>
            <a:off x="705328" y="1612305"/>
            <a:ext cx="5154980" cy="245566"/>
          </a:xfrm>
          <a:prstGeom prst="rect">
            <a:avLst/>
          </a:prstGeom>
          <a:noFill/>
          <a:ln/>
        </p:spPr>
        <p:txBody>
          <a:bodyPr wrap="none" lIns="0" tIns="0" rIns="0" bIns="0" rtlCol="0" anchor="t"/>
          <a:lstStyle/>
          <a:p>
            <a:pPr algn="l" indent="0" marL="0">
              <a:lnSpc>
                <a:spcPct val="104000"/>
              </a:lnSpc>
              <a:buNone/>
            </a:pPr>
            <a:r>
              <a:rPr lang="en-US" sz="1500" dirty="0">
                <a:solidFill>
                  <a:srgbClr val="030303"/>
                </a:solidFill>
                <a:latin typeface="DM Sans SemiBold" pitchFamily="34" charset="0"/>
                <a:ea typeface="DM Sans SemiBold" pitchFamily="34" charset="-122"/>
                <a:cs typeface="DM Sans SemiBold" pitchFamily="34" charset="-120"/>
              </a:rPr>
              <a:t>Segment Definition</a:t>
            </a:r>
            <a:endParaRPr lang="en-US" sz="1500" dirty="0"/>
          </a:p>
        </p:txBody>
      </p:sp>
      <p:sp>
        <p:nvSpPr>
          <p:cNvPr id="5" name="Text 3"/>
          <p:cNvSpPr/>
          <p:nvPr/>
        </p:nvSpPr>
        <p:spPr>
          <a:xfrm>
            <a:off x="705328" y="2007096"/>
            <a:ext cx="5154980" cy="73550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000000"/>
                </a:solidFill>
                <a:latin typeface="Inter Bold" pitchFamily="34" charset="0"/>
                <a:ea typeface="Inter Bold" pitchFamily="34" charset="-122"/>
                <a:cs typeface="Inter Bold" pitchFamily="34" charset="-120"/>
              </a:rPr>
              <a:t>839 customers</a:t>
            </a:r>
            <a:pPr algn="l" indent="0" marL="0">
              <a:lnSpc>
                <a:spcPct val="130000"/>
              </a:lnSpc>
              <a:buNone/>
            </a:pPr>
            <a:r>
              <a:rPr lang="en-US" sz="1200" dirty="0">
                <a:solidFill>
                  <a:srgbClr val="000000"/>
                </a:solidFill>
                <a:latin typeface="Inter Medium" pitchFamily="34" charset="0"/>
                <a:ea typeface="Inter Medium" pitchFamily="34" charset="-122"/>
                <a:cs typeface="Inter Medium" pitchFamily="34" charset="-120"/>
              </a:rPr>
              <a:t> who applied discounts yet still spent above the average purchase amount — representing a high-value cohort that responds to promotions without sacrificing basket size.</a:t>
            </a:r>
            <a:endParaRPr lang="en-US" sz="1200" dirty="0"/>
          </a:p>
        </p:txBody>
      </p:sp>
      <p:sp>
        <p:nvSpPr>
          <p:cNvPr id="6" name="Shape 4"/>
          <p:cNvSpPr/>
          <p:nvPr/>
        </p:nvSpPr>
        <p:spPr>
          <a:xfrm>
            <a:off x="705328" y="2949674"/>
            <a:ext cx="5154980" cy="19050"/>
          </a:xfrm>
          <a:prstGeom prst="roundRect">
            <a:avLst>
              <a:gd name="adj" fmla="val 49999"/>
            </a:avLst>
          </a:prstGeom>
          <a:solidFill>
            <a:srgbClr val="000000">
              <a:alpha val="50000"/>
            </a:srgbClr>
          </a:solidFill>
          <a:ln/>
        </p:spPr>
      </p:sp>
      <p:sp>
        <p:nvSpPr>
          <p:cNvPr id="7" name="Text 5"/>
          <p:cNvSpPr/>
          <p:nvPr/>
        </p:nvSpPr>
        <p:spPr>
          <a:xfrm>
            <a:off x="705328" y="3175794"/>
            <a:ext cx="5154980" cy="245566"/>
          </a:xfrm>
          <a:prstGeom prst="rect">
            <a:avLst/>
          </a:prstGeom>
          <a:noFill/>
          <a:ln/>
        </p:spPr>
        <p:txBody>
          <a:bodyPr wrap="none" lIns="0" tIns="0" rIns="0" bIns="0" rtlCol="0" anchor="t"/>
          <a:lstStyle/>
          <a:p>
            <a:pPr algn="l" indent="0" marL="0">
              <a:lnSpc>
                <a:spcPct val="104000"/>
              </a:lnSpc>
              <a:buNone/>
            </a:pPr>
            <a:r>
              <a:rPr lang="en-US" sz="1500" dirty="0">
                <a:solidFill>
                  <a:srgbClr val="030303"/>
                </a:solidFill>
                <a:latin typeface="DM Sans SemiBold" pitchFamily="34" charset="0"/>
                <a:ea typeface="DM Sans SemiBold" pitchFamily="34" charset="-122"/>
                <a:cs typeface="DM Sans SemiBold" pitchFamily="34" charset="-120"/>
              </a:rPr>
              <a:t>Strategic Implication</a:t>
            </a:r>
            <a:endParaRPr lang="en-US" sz="1500" dirty="0"/>
          </a:p>
        </p:txBody>
      </p:sp>
      <p:sp>
        <p:nvSpPr>
          <p:cNvPr id="8" name="Text 6"/>
          <p:cNvSpPr/>
          <p:nvPr/>
        </p:nvSpPr>
        <p:spPr>
          <a:xfrm>
            <a:off x="705328" y="3570585"/>
            <a:ext cx="5154980"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Inter Medium" pitchFamily="34" charset="0"/>
                <a:ea typeface="Inter Medium" pitchFamily="34" charset="-122"/>
                <a:cs typeface="Inter Medium" pitchFamily="34" charset="-120"/>
              </a:rPr>
              <a:t>These customers demonstrate that discount usage does not necessarily erode revenue. Targeted promotions for this segment can drive volume while maintaining above-average spend per transaction.</a:t>
            </a:r>
            <a:endParaRPr lang="en-US" sz="1200" dirty="0"/>
          </a:p>
        </p:txBody>
      </p:sp>
      <p:sp>
        <p:nvSpPr>
          <p:cNvPr id="9" name="Text 7"/>
          <p:cNvSpPr/>
          <p:nvPr/>
        </p:nvSpPr>
        <p:spPr>
          <a:xfrm>
            <a:off x="6293883" y="1612305"/>
            <a:ext cx="5242687" cy="245566"/>
          </a:xfrm>
          <a:prstGeom prst="rect">
            <a:avLst/>
          </a:prstGeom>
          <a:noFill/>
          <a:ln/>
        </p:spPr>
        <p:txBody>
          <a:bodyPr wrap="none" lIns="0" tIns="0" rIns="0" bIns="0" rtlCol="0" anchor="t"/>
          <a:lstStyle/>
          <a:p>
            <a:pPr algn="l" indent="0" marL="0">
              <a:lnSpc>
                <a:spcPct val="104000"/>
              </a:lnSpc>
              <a:buNone/>
            </a:pPr>
            <a:r>
              <a:rPr lang="en-US" sz="1500" dirty="0">
                <a:solidFill>
                  <a:srgbClr val="030303"/>
                </a:solidFill>
                <a:latin typeface="DM Sans SemiBold" pitchFamily="34" charset="0"/>
                <a:ea typeface="DM Sans SemiBold" pitchFamily="34" charset="-122"/>
                <a:cs typeface="DM Sans SemiBold" pitchFamily="34" charset="-120"/>
              </a:rPr>
              <a:t>Sample High-Spending Discount Users</a:t>
            </a:r>
            <a:endParaRPr lang="en-US" sz="1500" dirty="0"/>
          </a:p>
        </p:txBody>
      </p:sp>
      <p:sp>
        <p:nvSpPr>
          <p:cNvPr id="10" name="Shape 8"/>
          <p:cNvSpPr/>
          <p:nvPr/>
        </p:nvSpPr>
        <p:spPr>
          <a:xfrm>
            <a:off x="6293883" y="2025749"/>
            <a:ext cx="5242687" cy="2665611"/>
          </a:xfrm>
          <a:prstGeom prst="roundRect">
            <a:avLst>
              <a:gd name="adj" fmla="val 884"/>
            </a:avLst>
          </a:prstGeom>
          <a:noFill/>
          <a:ln w="6350">
            <a:solidFill>
              <a:srgbClr val="000000">
                <a:alpha val="8000"/>
              </a:srgbClr>
            </a:solidFill>
            <a:prstDash val="solid"/>
          </a:ln>
        </p:spPr>
      </p:sp>
      <p:sp>
        <p:nvSpPr>
          <p:cNvPr id="11" name="Shape 9"/>
          <p:cNvSpPr/>
          <p:nvPr/>
        </p:nvSpPr>
        <p:spPr>
          <a:xfrm>
            <a:off x="6293883" y="2472134"/>
            <a:ext cx="5242687" cy="9820"/>
          </a:xfrm>
          <a:prstGeom prst="rect">
            <a:avLst/>
          </a:prstGeom>
          <a:solidFill>
            <a:srgbClr val="000000">
              <a:alpha val="8000"/>
            </a:srgbClr>
          </a:solidFill>
          <a:ln/>
        </p:spPr>
      </p:sp>
      <p:sp>
        <p:nvSpPr>
          <p:cNvPr id="12" name="Shape 10"/>
          <p:cNvSpPr/>
          <p:nvPr/>
        </p:nvSpPr>
        <p:spPr>
          <a:xfrm>
            <a:off x="6293883" y="2915345"/>
            <a:ext cx="5242687" cy="9820"/>
          </a:xfrm>
          <a:prstGeom prst="rect">
            <a:avLst/>
          </a:prstGeom>
          <a:solidFill>
            <a:srgbClr val="000000">
              <a:alpha val="8000"/>
            </a:srgbClr>
          </a:solidFill>
          <a:ln/>
        </p:spPr>
      </p:sp>
      <p:sp>
        <p:nvSpPr>
          <p:cNvPr id="13" name="Shape 11"/>
          <p:cNvSpPr/>
          <p:nvPr/>
        </p:nvSpPr>
        <p:spPr>
          <a:xfrm>
            <a:off x="6293883" y="3358555"/>
            <a:ext cx="5242687" cy="9820"/>
          </a:xfrm>
          <a:prstGeom prst="rect">
            <a:avLst/>
          </a:prstGeom>
          <a:solidFill>
            <a:srgbClr val="000000">
              <a:alpha val="8000"/>
            </a:srgbClr>
          </a:solidFill>
          <a:ln/>
        </p:spPr>
      </p:sp>
      <p:sp>
        <p:nvSpPr>
          <p:cNvPr id="14" name="Shape 12"/>
          <p:cNvSpPr/>
          <p:nvPr/>
        </p:nvSpPr>
        <p:spPr>
          <a:xfrm>
            <a:off x="6293883" y="3801765"/>
            <a:ext cx="5242687" cy="9820"/>
          </a:xfrm>
          <a:prstGeom prst="rect">
            <a:avLst/>
          </a:prstGeom>
          <a:solidFill>
            <a:srgbClr val="000000">
              <a:alpha val="8000"/>
            </a:srgbClr>
          </a:solidFill>
          <a:ln/>
        </p:spPr>
      </p:sp>
      <p:sp>
        <p:nvSpPr>
          <p:cNvPr id="15" name="Shape 13"/>
          <p:cNvSpPr/>
          <p:nvPr/>
        </p:nvSpPr>
        <p:spPr>
          <a:xfrm>
            <a:off x="6293883" y="4244975"/>
            <a:ext cx="5242687" cy="9820"/>
          </a:xfrm>
          <a:prstGeom prst="rect">
            <a:avLst/>
          </a:prstGeom>
          <a:solidFill>
            <a:srgbClr val="000000">
              <a:alpha val="8000"/>
            </a:srgbClr>
          </a:solidFill>
          <a:ln/>
        </p:spPr>
      </p:sp>
      <p:sp>
        <p:nvSpPr>
          <p:cNvPr id="16" name="Text 14"/>
          <p:cNvSpPr/>
          <p:nvPr/>
        </p:nvSpPr>
        <p:spPr>
          <a:xfrm>
            <a:off x="6457392" y="2127945"/>
            <a:ext cx="2910410" cy="245170"/>
          </a:xfrm>
          <a:prstGeom prst="rect">
            <a:avLst/>
          </a:prstGeom>
          <a:noFill/>
          <a:ln/>
        </p:spPr>
        <p:txBody>
          <a:bodyPr wrap="none" lIns="0" tIns="0" rIns="0" bIns="0" rtlCol="0" anchor="t"/>
          <a:lstStyle/>
          <a:p>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Customer ID</a:t>
            </a:r>
            <a:endParaRPr lang="en-US" sz="1200" dirty="0"/>
          </a:p>
        </p:txBody>
      </p:sp>
      <p:sp>
        <p:nvSpPr>
          <p:cNvPr id="17" name="Text 15"/>
          <p:cNvSpPr/>
          <p:nvPr/>
        </p:nvSpPr>
        <p:spPr>
          <a:xfrm>
            <a:off x="9072336" y="2127945"/>
            <a:ext cx="2910410" cy="245170"/>
          </a:xfrm>
          <a:prstGeom prst="rect">
            <a:avLst/>
          </a:prstGeom>
          <a:noFill/>
          <a:ln/>
        </p:spPr>
        <p:txBody>
          <a:bodyPr wrap="none" lIns="0" tIns="0" rIns="0" bIns="0" rtlCol="0" anchor="t"/>
          <a:lstStyle/>
          <a:p>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Purchase Amount ($)</a:t>
            </a:r>
            <a:endParaRPr lang="en-US" sz="1200" dirty="0"/>
          </a:p>
        </p:txBody>
      </p:sp>
      <p:sp>
        <p:nvSpPr>
          <p:cNvPr id="18" name="Text 16"/>
          <p:cNvSpPr/>
          <p:nvPr/>
        </p:nvSpPr>
        <p:spPr>
          <a:xfrm>
            <a:off x="6457392" y="257115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Customer 2</a:t>
            </a:r>
            <a:endParaRPr lang="en-US" sz="1200" dirty="0"/>
          </a:p>
        </p:txBody>
      </p:sp>
      <p:sp>
        <p:nvSpPr>
          <p:cNvPr id="19" name="Text 17"/>
          <p:cNvSpPr/>
          <p:nvPr/>
        </p:nvSpPr>
        <p:spPr>
          <a:xfrm>
            <a:off x="9072336" y="257115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$64</a:t>
            </a:r>
            <a:endParaRPr lang="en-US" sz="1200" dirty="0"/>
          </a:p>
        </p:txBody>
      </p:sp>
      <p:sp>
        <p:nvSpPr>
          <p:cNvPr id="20" name="Text 18"/>
          <p:cNvSpPr/>
          <p:nvPr/>
        </p:nvSpPr>
        <p:spPr>
          <a:xfrm>
            <a:off x="6457392" y="301436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Customer 3</a:t>
            </a:r>
            <a:endParaRPr lang="en-US" sz="1200" dirty="0"/>
          </a:p>
        </p:txBody>
      </p:sp>
      <p:sp>
        <p:nvSpPr>
          <p:cNvPr id="21" name="Text 19"/>
          <p:cNvSpPr/>
          <p:nvPr/>
        </p:nvSpPr>
        <p:spPr>
          <a:xfrm>
            <a:off x="9072336" y="301436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$73</a:t>
            </a:r>
            <a:endParaRPr lang="en-US" sz="1200" dirty="0"/>
          </a:p>
        </p:txBody>
      </p:sp>
      <p:sp>
        <p:nvSpPr>
          <p:cNvPr id="22" name="Text 20"/>
          <p:cNvSpPr/>
          <p:nvPr/>
        </p:nvSpPr>
        <p:spPr>
          <a:xfrm>
            <a:off x="6457392" y="345757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Customer 4</a:t>
            </a:r>
            <a:endParaRPr lang="en-US" sz="1200" dirty="0"/>
          </a:p>
        </p:txBody>
      </p:sp>
      <p:sp>
        <p:nvSpPr>
          <p:cNvPr id="23" name="Text 21"/>
          <p:cNvSpPr/>
          <p:nvPr/>
        </p:nvSpPr>
        <p:spPr>
          <a:xfrm>
            <a:off x="9072336" y="345757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$90</a:t>
            </a:r>
            <a:endParaRPr lang="en-US" sz="1200" dirty="0"/>
          </a:p>
        </p:txBody>
      </p:sp>
      <p:sp>
        <p:nvSpPr>
          <p:cNvPr id="24" name="Text 22"/>
          <p:cNvSpPr/>
          <p:nvPr/>
        </p:nvSpPr>
        <p:spPr>
          <a:xfrm>
            <a:off x="6457392" y="390078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Customer 7</a:t>
            </a:r>
            <a:endParaRPr lang="en-US" sz="1200" dirty="0"/>
          </a:p>
        </p:txBody>
      </p:sp>
      <p:sp>
        <p:nvSpPr>
          <p:cNvPr id="25" name="Text 23"/>
          <p:cNvSpPr/>
          <p:nvPr/>
        </p:nvSpPr>
        <p:spPr>
          <a:xfrm>
            <a:off x="9072336" y="390078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$85</a:t>
            </a:r>
            <a:endParaRPr lang="en-US" sz="1200" dirty="0"/>
          </a:p>
        </p:txBody>
      </p:sp>
      <p:sp>
        <p:nvSpPr>
          <p:cNvPr id="26" name="Text 24"/>
          <p:cNvSpPr/>
          <p:nvPr/>
        </p:nvSpPr>
        <p:spPr>
          <a:xfrm>
            <a:off x="6457392" y="434399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Customer 9</a:t>
            </a:r>
            <a:endParaRPr lang="en-US" sz="1200" dirty="0"/>
          </a:p>
        </p:txBody>
      </p:sp>
      <p:sp>
        <p:nvSpPr>
          <p:cNvPr id="27" name="Text 25"/>
          <p:cNvSpPr/>
          <p:nvPr/>
        </p:nvSpPr>
        <p:spPr>
          <a:xfrm>
            <a:off x="9072336" y="4343995"/>
            <a:ext cx="2910410"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$97</a:t>
            </a:r>
            <a:endParaRPr lang="en-US" sz="1200" dirty="0"/>
          </a:p>
        </p:txBody>
      </p:sp>
      <p:sp>
        <p:nvSpPr>
          <p:cNvPr id="28" name="Shape 26"/>
          <p:cNvSpPr/>
          <p:nvPr/>
        </p:nvSpPr>
        <p:spPr>
          <a:xfrm>
            <a:off x="6293883" y="4859238"/>
            <a:ext cx="5242687" cy="1082576"/>
          </a:xfrm>
          <a:prstGeom prst="roundRect">
            <a:avLst>
              <a:gd name="adj" fmla="val 2177"/>
            </a:avLst>
          </a:prstGeom>
          <a:solidFill>
            <a:srgbClr val="D4F7EC"/>
          </a:solidFill>
          <a:ln/>
        </p:spPr>
      </p:sp>
      <p:pic>
        <p:nvPicPr>
          <p:cNvPr id="29" name="Image 0" descr="preencoded.png">    </p:cNvPr>
          <p:cNvPicPr>
            <a:picLocks noChangeAspect="1"/>
          </p:cNvPicPr>
          <p:nvPr/>
        </p:nvPicPr>
        <p:blipFill>
          <a:blip r:embed="rId1"/>
          <a:stretch>
            <a:fillRect/>
          </a:stretch>
        </p:blipFill>
        <p:spPr>
          <a:xfrm>
            <a:off x="6450943" y="5087938"/>
            <a:ext cx="196349" cy="157063"/>
          </a:xfrm>
          <a:prstGeom prst="rect">
            <a:avLst/>
          </a:prstGeom>
        </p:spPr>
      </p:pic>
      <p:sp>
        <p:nvSpPr>
          <p:cNvPr id="30" name="Text 27"/>
          <p:cNvSpPr/>
          <p:nvPr/>
        </p:nvSpPr>
        <p:spPr>
          <a:xfrm>
            <a:off x="6804351" y="5032772"/>
            <a:ext cx="4575160"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000000"/>
                </a:solidFill>
                <a:latin typeface="Inter Medium" pitchFamily="34" charset="0"/>
                <a:ea typeface="Inter Medium" pitchFamily="34" charset="-122"/>
                <a:cs typeface="Inter Medium" pitchFamily="34" charset="-120"/>
              </a:rPr>
              <a:t>839 total customers in this segment — all spent above the dataset average purchase amount despite discount application.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36984"/>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030303"/>
                </a:solidFill>
                <a:latin typeface="DM Sans SemiBold" pitchFamily="34" charset="0"/>
                <a:ea typeface="DM Sans SemiBold" pitchFamily="34" charset="-122"/>
                <a:cs typeface="DM Sans SemiBold" pitchFamily="34" charset="-120"/>
              </a:rPr>
              <a:t>Top 5 Products by Rating</a:t>
            </a:r>
            <a:endParaRPr lang="en-US" sz="3050" dirty="0"/>
          </a:p>
        </p:txBody>
      </p:sp>
      <p:sp>
        <p:nvSpPr>
          <p:cNvPr id="3" name="Text 1"/>
          <p:cNvSpPr/>
          <p:nvPr/>
        </p:nvSpPr>
        <p:spPr>
          <a:xfrm>
            <a:off x="661475" y="1426369"/>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Average review ratings across the top-performing products are tightly clustered between 3.78 and 3.86, indicating consistent but moderate customer satisfaction across the product catalog.</a:t>
            </a:r>
            <a:endParaRPr lang="en-US" sz="1200" dirty="0"/>
          </a:p>
        </p:txBody>
      </p:sp>
      <p:pic>
        <p:nvPicPr>
          <p:cNvPr id="4" name="Image 0" descr="preencoded.png">    </p:cNvPr>
          <p:cNvPicPr>
            <a:picLocks noChangeAspect="1"/>
          </p:cNvPicPr>
          <p:nvPr/>
        </p:nvPicPr>
        <p:blipFill>
          <a:blip r:embed="rId1"/>
          <a:stretch>
            <a:fillRect/>
          </a:stretch>
        </p:blipFill>
        <p:spPr>
          <a:xfrm>
            <a:off x="661475" y="2252464"/>
            <a:ext cx="5514936" cy="3787080"/>
          </a:xfrm>
          <a:prstGeom prst="rect">
            <a:avLst/>
          </a:prstGeom>
        </p:spPr>
      </p:pic>
      <p:sp>
        <p:nvSpPr>
          <p:cNvPr id="5" name="Text 2"/>
          <p:cNvSpPr/>
          <p:nvPr/>
        </p:nvSpPr>
        <p:spPr>
          <a:xfrm>
            <a:off x="6856439" y="2233811"/>
            <a:ext cx="4680031" cy="245566"/>
          </a:xfrm>
          <a:prstGeom prst="rect">
            <a:avLst/>
          </a:prstGeom>
          <a:noFill/>
          <a:ln/>
        </p:spPr>
        <p:txBody>
          <a:bodyPr wrap="none" lIns="0" tIns="0" rIns="0" bIns="0" rtlCol="0" anchor="t"/>
          <a:lstStyle/>
          <a:p>
            <a:pPr algn="l" indent="0" marL="0">
              <a:lnSpc>
                <a:spcPct val="104000"/>
              </a:lnSpc>
              <a:buNone/>
            </a:pPr>
            <a:r>
              <a:rPr lang="en-US" sz="1500" dirty="0">
                <a:solidFill>
                  <a:srgbClr val="030303"/>
                </a:solidFill>
                <a:latin typeface="DM Sans SemiBold" pitchFamily="34" charset="0"/>
                <a:ea typeface="DM Sans SemiBold" pitchFamily="34" charset="-122"/>
                <a:cs typeface="DM Sans SemiBold" pitchFamily="34" charset="-120"/>
              </a:rPr>
              <a:t>Ratings Breakdown</a:t>
            </a:r>
            <a:endParaRPr lang="en-US" sz="1500" dirty="0"/>
          </a:p>
        </p:txBody>
      </p:sp>
      <p:sp>
        <p:nvSpPr>
          <p:cNvPr id="6" name="Shape 3"/>
          <p:cNvSpPr/>
          <p:nvPr/>
        </p:nvSpPr>
        <p:spPr>
          <a:xfrm>
            <a:off x="6856439" y="2647255"/>
            <a:ext cx="2265405" cy="1199257"/>
          </a:xfrm>
          <a:prstGeom prst="roundRect">
            <a:avLst>
              <a:gd name="adj" fmla="val 1965"/>
            </a:avLst>
          </a:prstGeom>
          <a:solidFill>
            <a:srgbClr val="F2EEEE"/>
          </a:solidFill>
          <a:ln/>
        </p:spPr>
      </p:sp>
      <p:sp>
        <p:nvSpPr>
          <p:cNvPr id="7" name="Text 4"/>
          <p:cNvSpPr/>
          <p:nvPr/>
        </p:nvSpPr>
        <p:spPr>
          <a:xfrm>
            <a:off x="7013499" y="2804319"/>
            <a:ext cx="1951286" cy="245566"/>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 Gloves</a:t>
            </a:r>
            <a:endParaRPr lang="en-US" sz="1500" dirty="0"/>
          </a:p>
        </p:txBody>
      </p:sp>
      <p:sp>
        <p:nvSpPr>
          <p:cNvPr id="8" name="Text 5"/>
          <p:cNvSpPr/>
          <p:nvPr/>
        </p:nvSpPr>
        <p:spPr>
          <a:xfrm>
            <a:off x="7013499" y="3199110"/>
            <a:ext cx="1951286"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Rating: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3.86</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 Highest rated product</a:t>
            </a:r>
            <a:endParaRPr lang="en-US" sz="1200" dirty="0"/>
          </a:p>
        </p:txBody>
      </p:sp>
      <p:sp>
        <p:nvSpPr>
          <p:cNvPr id="9" name="Shape 6"/>
          <p:cNvSpPr/>
          <p:nvPr/>
        </p:nvSpPr>
        <p:spPr>
          <a:xfrm>
            <a:off x="9271066" y="2647255"/>
            <a:ext cx="2265405" cy="1199257"/>
          </a:xfrm>
          <a:prstGeom prst="roundRect">
            <a:avLst>
              <a:gd name="adj" fmla="val 1965"/>
            </a:avLst>
          </a:prstGeom>
          <a:solidFill>
            <a:srgbClr val="F2EEEE"/>
          </a:solidFill>
          <a:ln/>
        </p:spPr>
      </p:sp>
      <p:sp>
        <p:nvSpPr>
          <p:cNvPr id="10" name="Text 7"/>
          <p:cNvSpPr/>
          <p:nvPr/>
        </p:nvSpPr>
        <p:spPr>
          <a:xfrm>
            <a:off x="9428125" y="2804319"/>
            <a:ext cx="1951286" cy="245566"/>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 Sandals</a:t>
            </a:r>
            <a:endParaRPr lang="en-US" sz="1500" dirty="0"/>
          </a:p>
        </p:txBody>
      </p:sp>
      <p:sp>
        <p:nvSpPr>
          <p:cNvPr id="11" name="Text 8"/>
          <p:cNvSpPr/>
          <p:nvPr/>
        </p:nvSpPr>
        <p:spPr>
          <a:xfrm>
            <a:off x="9428125" y="3199110"/>
            <a:ext cx="1951286"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Rating: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3.84</a:t>
            </a:r>
            <a:endParaRPr lang="en-US" sz="1200" dirty="0"/>
          </a:p>
        </p:txBody>
      </p:sp>
      <p:sp>
        <p:nvSpPr>
          <p:cNvPr id="12" name="Shape 9"/>
          <p:cNvSpPr/>
          <p:nvPr/>
        </p:nvSpPr>
        <p:spPr>
          <a:xfrm>
            <a:off x="6856439" y="3995737"/>
            <a:ext cx="2265405" cy="954088"/>
          </a:xfrm>
          <a:prstGeom prst="roundRect">
            <a:avLst>
              <a:gd name="adj" fmla="val 2470"/>
            </a:avLst>
          </a:prstGeom>
          <a:solidFill>
            <a:srgbClr val="F2EEEE"/>
          </a:solidFill>
          <a:ln/>
        </p:spPr>
      </p:sp>
      <p:sp>
        <p:nvSpPr>
          <p:cNvPr id="13" name="Text 10"/>
          <p:cNvSpPr/>
          <p:nvPr/>
        </p:nvSpPr>
        <p:spPr>
          <a:xfrm>
            <a:off x="7013499" y="4152801"/>
            <a:ext cx="1951286" cy="245566"/>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 Boots</a:t>
            </a:r>
            <a:endParaRPr lang="en-US" sz="1500" dirty="0"/>
          </a:p>
        </p:txBody>
      </p:sp>
      <p:sp>
        <p:nvSpPr>
          <p:cNvPr id="14" name="Text 11"/>
          <p:cNvSpPr/>
          <p:nvPr/>
        </p:nvSpPr>
        <p:spPr>
          <a:xfrm>
            <a:off x="7013499" y="4547592"/>
            <a:ext cx="1951286"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Rating: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3.82</a:t>
            </a:r>
            <a:endParaRPr lang="en-US" sz="1200" dirty="0"/>
          </a:p>
        </p:txBody>
      </p:sp>
      <p:sp>
        <p:nvSpPr>
          <p:cNvPr id="15" name="Shape 12"/>
          <p:cNvSpPr/>
          <p:nvPr/>
        </p:nvSpPr>
        <p:spPr>
          <a:xfrm>
            <a:off x="9271066" y="3995737"/>
            <a:ext cx="2265405" cy="954088"/>
          </a:xfrm>
          <a:prstGeom prst="roundRect">
            <a:avLst>
              <a:gd name="adj" fmla="val 2470"/>
            </a:avLst>
          </a:prstGeom>
          <a:solidFill>
            <a:srgbClr val="F2EEEE"/>
          </a:solidFill>
          <a:ln/>
        </p:spPr>
      </p:sp>
      <p:sp>
        <p:nvSpPr>
          <p:cNvPr id="16" name="Text 13"/>
          <p:cNvSpPr/>
          <p:nvPr/>
        </p:nvSpPr>
        <p:spPr>
          <a:xfrm>
            <a:off x="9428125" y="4152801"/>
            <a:ext cx="1951286"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Hat</a:t>
            </a:r>
            <a:endParaRPr lang="en-US" sz="1500" dirty="0"/>
          </a:p>
        </p:txBody>
      </p:sp>
      <p:sp>
        <p:nvSpPr>
          <p:cNvPr id="17" name="Text 14"/>
          <p:cNvSpPr/>
          <p:nvPr/>
        </p:nvSpPr>
        <p:spPr>
          <a:xfrm>
            <a:off x="9428125" y="4547592"/>
            <a:ext cx="1951286"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Rating: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3.80</a:t>
            </a:r>
            <a:endParaRPr lang="en-US" sz="1200" dirty="0"/>
          </a:p>
        </p:txBody>
      </p:sp>
      <p:sp>
        <p:nvSpPr>
          <p:cNvPr id="18" name="Shape 15"/>
          <p:cNvSpPr/>
          <p:nvPr/>
        </p:nvSpPr>
        <p:spPr>
          <a:xfrm>
            <a:off x="6856439" y="5099050"/>
            <a:ext cx="4680031" cy="954088"/>
          </a:xfrm>
          <a:prstGeom prst="roundRect">
            <a:avLst>
              <a:gd name="adj" fmla="val 2470"/>
            </a:avLst>
          </a:prstGeom>
          <a:solidFill>
            <a:srgbClr val="F2EEEE"/>
          </a:solidFill>
          <a:ln/>
        </p:spPr>
      </p:sp>
      <p:sp>
        <p:nvSpPr>
          <p:cNvPr id="19" name="Text 16"/>
          <p:cNvSpPr/>
          <p:nvPr/>
        </p:nvSpPr>
        <p:spPr>
          <a:xfrm>
            <a:off x="7013499" y="5256113"/>
            <a:ext cx="4365913"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Skirt</a:t>
            </a:r>
            <a:endParaRPr lang="en-US" sz="1500" dirty="0"/>
          </a:p>
        </p:txBody>
      </p:sp>
      <p:sp>
        <p:nvSpPr>
          <p:cNvPr id="20" name="Text 17"/>
          <p:cNvSpPr/>
          <p:nvPr/>
        </p:nvSpPr>
        <p:spPr>
          <a:xfrm>
            <a:off x="7013499" y="5650905"/>
            <a:ext cx="4365913"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Rating: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3.78</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 5th place, 0.08 pts below leader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9834"/>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030303"/>
                </a:solidFill>
                <a:latin typeface="DM Sans SemiBold" pitchFamily="34" charset="0"/>
                <a:ea typeface="DM Sans SemiBold" pitchFamily="34" charset="-122"/>
                <a:cs typeface="DM Sans SemiBold" pitchFamily="34" charset="-120"/>
              </a:rPr>
              <a:t>Shipping Type Comparison</a:t>
            </a:r>
            <a:endParaRPr lang="en-US" sz="3050" dirty="0"/>
          </a:p>
        </p:txBody>
      </p:sp>
      <p:sp>
        <p:nvSpPr>
          <p:cNvPr id="3" name="Text 1"/>
          <p:cNvSpPr/>
          <p:nvPr/>
        </p:nvSpPr>
        <p:spPr>
          <a:xfrm>
            <a:off x="661475" y="1369219"/>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Customers who select Express Shipping spend marginally more on average than those using Standard Shipping, suggesting a mild correlation between shipping urgency and purchase value.</a:t>
            </a:r>
            <a:endParaRPr lang="en-US" sz="1200" dirty="0"/>
          </a:p>
        </p:txBody>
      </p:sp>
      <p:pic>
        <p:nvPicPr>
          <p:cNvPr id="4" name="Image 0" descr="preencoded.png">    </p:cNvPr>
          <p:cNvPicPr>
            <a:picLocks noChangeAspect="1"/>
          </p:cNvPicPr>
          <p:nvPr/>
        </p:nvPicPr>
        <p:blipFill>
          <a:blip r:embed="rId1"/>
          <a:stretch>
            <a:fillRect/>
          </a:stretch>
        </p:blipFill>
        <p:spPr>
          <a:xfrm>
            <a:off x="661475" y="2195314"/>
            <a:ext cx="4980458" cy="3584972"/>
          </a:xfrm>
          <a:prstGeom prst="rect">
            <a:avLst/>
          </a:prstGeom>
        </p:spPr>
      </p:pic>
      <p:sp>
        <p:nvSpPr>
          <p:cNvPr id="5" name="Text 2"/>
          <p:cNvSpPr/>
          <p:nvPr/>
        </p:nvSpPr>
        <p:spPr>
          <a:xfrm>
            <a:off x="6293883" y="2176661"/>
            <a:ext cx="5242687" cy="245566"/>
          </a:xfrm>
          <a:prstGeom prst="rect">
            <a:avLst/>
          </a:prstGeom>
          <a:noFill/>
          <a:ln/>
        </p:spPr>
        <p:txBody>
          <a:bodyPr wrap="none" lIns="0" tIns="0" rIns="0" bIns="0" rtlCol="0" anchor="t"/>
          <a:lstStyle/>
          <a:p>
            <a:pPr algn="l" indent="0" marL="0">
              <a:lnSpc>
                <a:spcPct val="104000"/>
              </a:lnSpc>
              <a:buNone/>
            </a:pPr>
            <a:r>
              <a:rPr lang="en-US" sz="1500" dirty="0">
                <a:solidFill>
                  <a:srgbClr val="030303"/>
                </a:solidFill>
                <a:latin typeface="DM Sans SemiBold" pitchFamily="34" charset="0"/>
                <a:ea typeface="DM Sans SemiBold" pitchFamily="34" charset="-122"/>
                <a:cs typeface="DM Sans SemiBold" pitchFamily="34" charset="-120"/>
              </a:rPr>
              <a:t>Comparison Summary</a:t>
            </a:r>
            <a:endParaRPr lang="en-US" sz="15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93883" y="2590105"/>
            <a:ext cx="5242687" cy="992188"/>
          </a:xfrm>
          <a:prstGeom prst="rect">
            <a:avLst/>
          </a:prstGeom>
        </p:spPr>
      </p:pic>
      <p:sp>
        <p:nvSpPr>
          <p:cNvPr id="7" name="Text 3"/>
          <p:cNvSpPr/>
          <p:nvPr/>
        </p:nvSpPr>
        <p:spPr>
          <a:xfrm>
            <a:off x="6546190" y="2766219"/>
            <a:ext cx="4814271"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Standard Shipping</a:t>
            </a:r>
            <a:endParaRPr lang="en-US" sz="1500" dirty="0"/>
          </a:p>
        </p:txBody>
      </p:sp>
      <p:sp>
        <p:nvSpPr>
          <p:cNvPr id="8" name="Text 4"/>
          <p:cNvSpPr/>
          <p:nvPr/>
        </p:nvSpPr>
        <p:spPr>
          <a:xfrm>
            <a:off x="6546190" y="3161010"/>
            <a:ext cx="4814271"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Average purchase amount: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$58.46</a:t>
            </a:r>
            <a:endParaRPr lang="en-US" sz="12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93883" y="3731518"/>
            <a:ext cx="5242687" cy="992188"/>
          </a:xfrm>
          <a:prstGeom prst="rect">
            <a:avLst/>
          </a:prstGeom>
        </p:spPr>
      </p:pic>
      <p:sp>
        <p:nvSpPr>
          <p:cNvPr id="10" name="Text 5"/>
          <p:cNvSpPr/>
          <p:nvPr/>
        </p:nvSpPr>
        <p:spPr>
          <a:xfrm>
            <a:off x="6546190" y="3907631"/>
            <a:ext cx="4814271"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Express Shipping</a:t>
            </a:r>
            <a:endParaRPr lang="en-US" sz="1500" dirty="0"/>
          </a:p>
        </p:txBody>
      </p:sp>
      <p:sp>
        <p:nvSpPr>
          <p:cNvPr id="11" name="Text 6"/>
          <p:cNvSpPr/>
          <p:nvPr/>
        </p:nvSpPr>
        <p:spPr>
          <a:xfrm>
            <a:off x="6546190" y="4302423"/>
            <a:ext cx="4814271" cy="245170"/>
          </a:xfrm>
          <a:prstGeom prst="rect">
            <a:avLst/>
          </a:prstGeom>
          <a:noFill/>
          <a:ln/>
        </p:spPr>
        <p:txBody>
          <a:bodyPr wrap="none" lIns="0" tIns="0" rIns="0" bIns="0" rtlCol="0" anchor="t"/>
          <a:lstStyle/>
          <a:p>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Average purchase amount: </a:t>
            </a:r>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$60.48</a:t>
            </a:r>
            <a:endParaRPr lang="en-US" sz="120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93883" y="4872930"/>
            <a:ext cx="5242687" cy="1237357"/>
          </a:xfrm>
          <a:prstGeom prst="rect">
            <a:avLst/>
          </a:prstGeom>
        </p:spPr>
      </p:pic>
      <p:sp>
        <p:nvSpPr>
          <p:cNvPr id="13" name="Text 7"/>
          <p:cNvSpPr/>
          <p:nvPr/>
        </p:nvSpPr>
        <p:spPr>
          <a:xfrm>
            <a:off x="6546190" y="5049044"/>
            <a:ext cx="4814271" cy="245566"/>
          </a:xfrm>
          <a:prstGeom prst="rect">
            <a:avLst/>
          </a:prstGeom>
          <a:noFill/>
          <a:ln/>
        </p:spPr>
        <p:txBody>
          <a:bodyPr wrap="none" lIns="0" tIns="0" rIns="0" bIns="0" rtlCol="0" anchor="t"/>
          <a:lstStyle/>
          <a:p>
            <a:pPr algn="l" indent="0" marL="0">
              <a:lnSpc>
                <a:spcPct val="104000"/>
              </a:lnSpc>
              <a:buNone/>
            </a:pPr>
            <a:r>
              <a:rPr lang="en-US" sz="1500" dirty="0">
                <a:solidFill>
                  <a:srgbClr val="464646"/>
                </a:solidFill>
                <a:latin typeface="DM Sans SemiBold" pitchFamily="34" charset="0"/>
                <a:ea typeface="DM Sans SemiBold" pitchFamily="34" charset="-122"/>
                <a:cs typeface="DM Sans SemiBold" pitchFamily="34" charset="-120"/>
              </a:rPr>
              <a:t>Difference</a:t>
            </a:r>
            <a:endParaRPr lang="en-US" sz="1500" dirty="0"/>
          </a:p>
        </p:txBody>
      </p:sp>
      <p:sp>
        <p:nvSpPr>
          <p:cNvPr id="14" name="Text 8"/>
          <p:cNvSpPr/>
          <p:nvPr/>
        </p:nvSpPr>
        <p:spPr>
          <a:xfrm>
            <a:off x="6546190" y="5443835"/>
            <a:ext cx="4814271" cy="49033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464646"/>
                </a:solidFill>
                <a:latin typeface="Inter Bold" pitchFamily="34" charset="0"/>
                <a:ea typeface="Inter Bold" pitchFamily="34" charset="-122"/>
                <a:cs typeface="Inter Bold" pitchFamily="34" charset="-120"/>
              </a:rPr>
              <a:t>$2.02</a:t>
            </a:r>
            <a:pPr algn="l" indent="0" marL="0">
              <a:lnSpc>
                <a:spcPct val="130000"/>
              </a:lnSpc>
              <a:buNone/>
            </a:pPr>
            <a:r>
              <a:rPr lang="en-US" sz="1200" dirty="0">
                <a:solidFill>
                  <a:srgbClr val="464646"/>
                </a:solidFill>
                <a:latin typeface="Inter Medium" pitchFamily="34" charset="0"/>
                <a:ea typeface="Inter Medium" pitchFamily="34" charset="-122"/>
                <a:cs typeface="Inter Medium" pitchFamily="34" charset="-120"/>
              </a:rPr>
              <a:t> higher average spend for Express customers — a 3.5% premium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7101"/>
            <a:ext cx="10868745" cy="344785"/>
          </a:xfrm>
          <a:prstGeom prst="rect">
            <a:avLst/>
          </a:prstGeom>
          <a:noFill/>
          <a:ln/>
        </p:spPr>
        <p:txBody>
          <a:bodyPr wrap="none" lIns="0" tIns="0" rIns="0" bIns="0" rtlCol="0" anchor="t"/>
          <a:lstStyle/>
          <a:p>
            <a:pPr algn="l" indent="0" marL="0">
              <a:lnSpc>
                <a:spcPct val="104000"/>
              </a:lnSpc>
              <a:buNone/>
            </a:pPr>
            <a:r>
              <a:rPr lang="en-US" sz="2150" dirty="0">
                <a:solidFill>
                  <a:srgbClr val="030303"/>
                </a:solidFill>
                <a:latin typeface="DM Sans SemiBold" pitchFamily="34" charset="0"/>
                <a:ea typeface="DM Sans SemiBold" pitchFamily="34" charset="-122"/>
                <a:cs typeface="DM Sans SemiBold" pitchFamily="34" charset="-120"/>
              </a:rPr>
              <a:t>Subscribers vs. Non-Subscribers</a:t>
            </a:r>
            <a:endParaRPr lang="en-US" sz="2150" dirty="0"/>
          </a:p>
        </p:txBody>
      </p:sp>
      <p:sp>
        <p:nvSpPr>
          <p:cNvPr id="3" name="Text 1"/>
          <p:cNvSpPr/>
          <p:nvPr/>
        </p:nvSpPr>
        <p:spPr>
          <a:xfrm>
            <a:off x="661475" y="949127"/>
            <a:ext cx="11478330" cy="147141"/>
          </a:xfrm>
          <a:prstGeom prst="rect">
            <a:avLst/>
          </a:prstGeom>
          <a:noFill/>
          <a:ln/>
        </p:spPr>
        <p:txBody>
          <a:bodyPr wrap="none" lIns="0" tIns="0" rIns="0" bIns="0" rtlCol="0" anchor="t"/>
          <a:lstStyle/>
          <a:p>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Despite subscribers representing only 27% of the customer base, their average spend per transaction is nearly equivalent to non-subscribers — indicating strong per-customer value even at lower volume.</a:t>
            </a:r>
            <a:endParaRPr lang="en-US" sz="850" dirty="0"/>
          </a:p>
        </p:txBody>
      </p:sp>
      <p:pic>
        <p:nvPicPr>
          <p:cNvPr id="4" name="Image 0" descr="preencoded.png">    </p:cNvPr>
          <p:cNvPicPr>
            <a:picLocks noChangeAspect="1"/>
          </p:cNvPicPr>
          <p:nvPr/>
        </p:nvPicPr>
        <p:blipFill>
          <a:blip r:embed="rId1"/>
          <a:stretch>
            <a:fillRect/>
          </a:stretch>
        </p:blipFill>
        <p:spPr>
          <a:xfrm>
            <a:off x="661475" y="1179016"/>
            <a:ext cx="7608102" cy="4260552"/>
          </a:xfrm>
          <a:prstGeom prst="rect">
            <a:avLst/>
          </a:prstGeom>
        </p:spPr>
      </p:pic>
      <p:sp>
        <p:nvSpPr>
          <p:cNvPr id="5" name="Shape 2"/>
          <p:cNvSpPr/>
          <p:nvPr/>
        </p:nvSpPr>
        <p:spPr>
          <a:xfrm>
            <a:off x="661475" y="5522317"/>
            <a:ext cx="3573770" cy="878582"/>
          </a:xfrm>
          <a:prstGeom prst="roundRect">
            <a:avLst>
              <a:gd name="adj" fmla="val 1884"/>
            </a:avLst>
          </a:prstGeom>
          <a:solidFill>
            <a:srgbClr val="F2EEEE"/>
          </a:solidFill>
          <a:ln/>
        </p:spPr>
      </p:sp>
      <p:sp>
        <p:nvSpPr>
          <p:cNvPr id="6" name="Text 3"/>
          <p:cNvSpPr/>
          <p:nvPr/>
        </p:nvSpPr>
        <p:spPr>
          <a:xfrm>
            <a:off x="771803" y="5632648"/>
            <a:ext cx="3353113" cy="172343"/>
          </a:xfrm>
          <a:prstGeom prst="rect">
            <a:avLst/>
          </a:prstGeom>
          <a:noFill/>
          <a:ln/>
        </p:spPr>
        <p:txBody>
          <a:bodyPr wrap="none" lIns="0" tIns="0" rIns="0" bIns="0" rtlCol="0" anchor="t"/>
          <a:lstStyle/>
          <a:p>
            <a:pPr algn="l" indent="0" marL="0">
              <a:lnSpc>
                <a:spcPct val="104000"/>
              </a:lnSpc>
              <a:buNone/>
            </a:pPr>
            <a:r>
              <a:rPr lang="en-US" sz="1050" dirty="0">
                <a:solidFill>
                  <a:srgbClr val="464646"/>
                </a:solidFill>
                <a:latin typeface="DM Sans SemiBold" pitchFamily="34" charset="0"/>
                <a:ea typeface="DM Sans SemiBold" pitchFamily="34" charset="-122"/>
                <a:cs typeface="DM Sans SemiBold" pitchFamily="34" charset="-120"/>
              </a:rPr>
              <a:t>Subscribers</a:t>
            </a:r>
            <a:endParaRPr lang="en-US" sz="1050" dirty="0"/>
          </a:p>
        </p:txBody>
      </p:sp>
      <p:sp>
        <p:nvSpPr>
          <p:cNvPr id="7" name="Text 4"/>
          <p:cNvSpPr/>
          <p:nvPr/>
        </p:nvSpPr>
        <p:spPr>
          <a:xfrm>
            <a:off x="771803" y="5849144"/>
            <a:ext cx="3353113" cy="147141"/>
          </a:xfrm>
          <a:prstGeom prst="rect">
            <a:avLst/>
          </a:prstGeom>
          <a:noFill/>
          <a:ln/>
        </p:spPr>
        <p:txBody>
          <a:bodyPr wrap="none" lIns="0" tIns="0" rIns="0" bIns="0" rtlCol="0" anchor="t"/>
          <a:lstStyle/>
          <a:p>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1,053</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customers · </a:t>
            </a:r>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$59.49</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avg spend · </a:t>
            </a:r>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$62,645</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total revenue</a:t>
            </a:r>
            <a:endParaRPr lang="en-US" sz="850" dirty="0"/>
          </a:p>
        </p:txBody>
      </p:sp>
      <p:sp>
        <p:nvSpPr>
          <p:cNvPr id="8" name="Shape 5"/>
          <p:cNvSpPr/>
          <p:nvPr/>
        </p:nvSpPr>
        <p:spPr>
          <a:xfrm>
            <a:off x="4308863" y="5522317"/>
            <a:ext cx="3573869" cy="878582"/>
          </a:xfrm>
          <a:prstGeom prst="roundRect">
            <a:avLst>
              <a:gd name="adj" fmla="val 1884"/>
            </a:avLst>
          </a:prstGeom>
          <a:solidFill>
            <a:srgbClr val="F2EEEE"/>
          </a:solidFill>
          <a:ln/>
        </p:spPr>
      </p:sp>
      <p:sp>
        <p:nvSpPr>
          <p:cNvPr id="9" name="Text 6"/>
          <p:cNvSpPr/>
          <p:nvPr/>
        </p:nvSpPr>
        <p:spPr>
          <a:xfrm>
            <a:off x="4419192" y="5632648"/>
            <a:ext cx="3353212" cy="172343"/>
          </a:xfrm>
          <a:prstGeom prst="rect">
            <a:avLst/>
          </a:prstGeom>
          <a:noFill/>
          <a:ln/>
        </p:spPr>
        <p:txBody>
          <a:bodyPr wrap="none" lIns="0" tIns="0" rIns="0" bIns="0" rtlCol="0" anchor="t"/>
          <a:lstStyle/>
          <a:p>
            <a:pPr algn="l" indent="0" marL="0">
              <a:lnSpc>
                <a:spcPct val="104000"/>
              </a:lnSpc>
              <a:buNone/>
            </a:pPr>
            <a:r>
              <a:rPr lang="en-US" sz="1050" dirty="0">
                <a:solidFill>
                  <a:srgbClr val="464646"/>
                </a:solidFill>
                <a:latin typeface="DM Sans SemiBold" pitchFamily="34" charset="0"/>
                <a:ea typeface="DM Sans SemiBold" pitchFamily="34" charset="-122"/>
                <a:cs typeface="DM Sans SemiBold" pitchFamily="34" charset="-120"/>
              </a:rPr>
              <a:t>Non-Subscribers</a:t>
            </a:r>
            <a:endParaRPr lang="en-US" sz="1050" dirty="0"/>
          </a:p>
        </p:txBody>
      </p:sp>
      <p:sp>
        <p:nvSpPr>
          <p:cNvPr id="10" name="Text 7"/>
          <p:cNvSpPr/>
          <p:nvPr/>
        </p:nvSpPr>
        <p:spPr>
          <a:xfrm>
            <a:off x="4419192" y="5849144"/>
            <a:ext cx="3353212" cy="147141"/>
          </a:xfrm>
          <a:prstGeom prst="rect">
            <a:avLst/>
          </a:prstGeom>
          <a:noFill/>
          <a:ln/>
        </p:spPr>
        <p:txBody>
          <a:bodyPr wrap="none" lIns="0" tIns="0" rIns="0" bIns="0" rtlCol="0" anchor="t"/>
          <a:lstStyle/>
          <a:p>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2,847</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customers · </a:t>
            </a:r>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$59.87</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avg spend · </a:t>
            </a:r>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$170,436</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total revenue</a:t>
            </a:r>
            <a:endParaRPr lang="en-US" sz="850" dirty="0"/>
          </a:p>
        </p:txBody>
      </p:sp>
      <p:sp>
        <p:nvSpPr>
          <p:cNvPr id="11" name="Shape 8"/>
          <p:cNvSpPr/>
          <p:nvPr/>
        </p:nvSpPr>
        <p:spPr>
          <a:xfrm>
            <a:off x="7956351" y="5522317"/>
            <a:ext cx="3573869" cy="878582"/>
          </a:xfrm>
          <a:prstGeom prst="roundRect">
            <a:avLst>
              <a:gd name="adj" fmla="val 1884"/>
            </a:avLst>
          </a:prstGeom>
          <a:solidFill>
            <a:srgbClr val="F2EEEE"/>
          </a:solidFill>
          <a:ln/>
        </p:spPr>
      </p:sp>
      <p:sp>
        <p:nvSpPr>
          <p:cNvPr id="12" name="Text 9"/>
          <p:cNvSpPr/>
          <p:nvPr/>
        </p:nvSpPr>
        <p:spPr>
          <a:xfrm>
            <a:off x="8066679" y="5632648"/>
            <a:ext cx="3353212" cy="172343"/>
          </a:xfrm>
          <a:prstGeom prst="rect">
            <a:avLst/>
          </a:prstGeom>
          <a:noFill/>
          <a:ln/>
        </p:spPr>
        <p:txBody>
          <a:bodyPr wrap="none" lIns="0" tIns="0" rIns="0" bIns="0" rtlCol="0" anchor="t"/>
          <a:lstStyle/>
          <a:p>
            <a:pPr algn="l" indent="0" marL="0">
              <a:lnSpc>
                <a:spcPct val="104000"/>
              </a:lnSpc>
              <a:buNone/>
            </a:pPr>
            <a:r>
              <a:rPr lang="en-US" sz="1050" dirty="0">
                <a:solidFill>
                  <a:srgbClr val="464646"/>
                </a:solidFill>
                <a:latin typeface="DM Sans SemiBold" pitchFamily="34" charset="0"/>
                <a:ea typeface="DM Sans SemiBold" pitchFamily="34" charset="-122"/>
                <a:cs typeface="DM Sans SemiBold" pitchFamily="34" charset="-120"/>
              </a:rPr>
              <a:t>Avg Spend Gap</a:t>
            </a:r>
            <a:endParaRPr lang="en-US" sz="1050" dirty="0"/>
          </a:p>
        </p:txBody>
      </p:sp>
      <p:sp>
        <p:nvSpPr>
          <p:cNvPr id="13" name="Text 10"/>
          <p:cNvSpPr/>
          <p:nvPr/>
        </p:nvSpPr>
        <p:spPr>
          <a:xfrm>
            <a:off x="8066679" y="5849144"/>
            <a:ext cx="3353212" cy="441424"/>
          </a:xfrm>
          <a:prstGeom prst="rect">
            <a:avLst/>
          </a:prstGeom>
          <a:noFill/>
          <a:ln/>
        </p:spPr>
        <p:txBody>
          <a:bodyPr wrap="square" lIns="0" tIns="0" rIns="0" bIns="0" rtlCol="0" anchor="t">
            <a:normAutofit/>
          </a:bodyPr>
          <a:lstStyle/>
          <a:p>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Only </a:t>
            </a:r>
            <a:pPr algn="l" indent="0" marL="0">
              <a:lnSpc>
                <a:spcPct val="111000"/>
              </a:lnSpc>
              <a:buNone/>
            </a:pPr>
            <a:r>
              <a:rPr lang="en-US" sz="850" b="1" dirty="0">
                <a:solidFill>
                  <a:srgbClr val="464646"/>
                </a:solidFill>
                <a:latin typeface="Inter Bold" pitchFamily="34" charset="0"/>
                <a:ea typeface="Inter Bold" pitchFamily="34" charset="-122"/>
                <a:cs typeface="Inter Bold" pitchFamily="34" charset="-120"/>
              </a:rPr>
              <a:t>$0.38</a:t>
            </a:r>
            <a:pPr algn="l" indent="0" marL="0">
              <a:lnSpc>
                <a:spcPct val="111000"/>
              </a:lnSpc>
              <a:buNone/>
            </a:pPr>
            <a:r>
              <a:rPr lang="en-US" sz="850" dirty="0">
                <a:solidFill>
                  <a:srgbClr val="464646"/>
                </a:solidFill>
                <a:latin typeface="Inter Medium" pitchFamily="34" charset="0"/>
                <a:ea typeface="Inter Medium" pitchFamily="34" charset="-122"/>
                <a:cs typeface="Inter Medium" pitchFamily="34" charset="-120"/>
              </a:rPr>
              <a:t> difference in average spend — subscribers and non-subscribers purchase at near-identical rates per transaction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469503"/>
            <a:ext cx="10868745" cy="450552"/>
          </a:xfrm>
          <a:prstGeom prst="rect">
            <a:avLst/>
          </a:prstGeom>
          <a:noFill/>
          <a:ln/>
        </p:spPr>
        <p:txBody>
          <a:bodyPr wrap="none" lIns="0" tIns="0" rIns="0" bIns="0" rtlCol="0" anchor="t"/>
          <a:lstStyle/>
          <a:p>
            <a:pPr algn="l" indent="0" marL="0">
              <a:lnSpc>
                <a:spcPct val="104000"/>
              </a:lnSpc>
              <a:buNone/>
            </a:pPr>
            <a:r>
              <a:rPr lang="en-US" sz="2800" dirty="0">
                <a:solidFill>
                  <a:srgbClr val="030303"/>
                </a:solidFill>
                <a:latin typeface="DM Sans SemiBold" pitchFamily="34" charset="0"/>
                <a:ea typeface="DM Sans SemiBold" pitchFamily="34" charset="-122"/>
                <a:cs typeface="DM Sans SemiBold" pitchFamily="34" charset="-120"/>
              </a:rPr>
              <a:t>Discount-Dependent Products</a:t>
            </a:r>
            <a:endParaRPr lang="en-US" sz="2800" dirty="0"/>
          </a:p>
        </p:txBody>
      </p:sp>
      <p:sp>
        <p:nvSpPr>
          <p:cNvPr id="3" name="Text 1"/>
          <p:cNvSpPr/>
          <p:nvPr/>
        </p:nvSpPr>
        <p:spPr>
          <a:xfrm>
            <a:off x="661475" y="1171476"/>
            <a:ext cx="10868745"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464646"/>
                </a:solidFill>
                <a:latin typeface="Inter Medium" pitchFamily="34" charset="0"/>
                <a:ea typeface="Inter Medium" pitchFamily="34" charset="-122"/>
                <a:cs typeface="Inter Medium" pitchFamily="34" charset="-120"/>
              </a:rPr>
              <a:t>Several key product categories show discount application rates approaching 50%, suggesting that nearly half of all purchases in these categories are driven by promotional pricing — a potential margin risk.</a:t>
            </a:r>
            <a:endParaRPr lang="en-US" sz="1100" dirty="0"/>
          </a:p>
        </p:txBody>
      </p:sp>
      <p:pic>
        <p:nvPicPr>
          <p:cNvPr id="4" name="Image 0" descr="preencoded.png">    </p:cNvPr>
          <p:cNvPicPr>
            <a:picLocks noChangeAspect="1"/>
          </p:cNvPicPr>
          <p:nvPr/>
        </p:nvPicPr>
        <p:blipFill>
          <a:blip r:embed="rId1"/>
          <a:stretch>
            <a:fillRect/>
          </a:stretch>
        </p:blipFill>
        <p:spPr>
          <a:xfrm>
            <a:off x="661475" y="1885851"/>
            <a:ext cx="5237428" cy="3595390"/>
          </a:xfrm>
          <a:prstGeom prst="rect">
            <a:avLst/>
          </a:prstGeom>
        </p:spPr>
      </p:pic>
      <p:sp>
        <p:nvSpPr>
          <p:cNvPr id="5" name="Text 2"/>
          <p:cNvSpPr/>
          <p:nvPr/>
        </p:nvSpPr>
        <p:spPr>
          <a:xfrm>
            <a:off x="6839077" y="1870174"/>
            <a:ext cx="4697394" cy="225326"/>
          </a:xfrm>
          <a:prstGeom prst="rect">
            <a:avLst/>
          </a:prstGeom>
          <a:noFill/>
          <a:ln/>
        </p:spPr>
        <p:txBody>
          <a:bodyPr wrap="none" lIns="0" tIns="0" rIns="0" bIns="0" rtlCol="0" anchor="t"/>
          <a:lstStyle/>
          <a:p>
            <a:pPr algn="l" indent="0" marL="0">
              <a:lnSpc>
                <a:spcPct val="104000"/>
              </a:lnSpc>
              <a:buNone/>
            </a:pPr>
            <a:r>
              <a:rPr lang="en-US" sz="1400" dirty="0">
                <a:solidFill>
                  <a:srgbClr val="030303"/>
                </a:solidFill>
                <a:latin typeface="DM Sans SemiBold" pitchFamily="34" charset="0"/>
                <a:ea typeface="DM Sans SemiBold" pitchFamily="34" charset="-122"/>
                <a:cs typeface="DM Sans SemiBold" pitchFamily="34" charset="-120"/>
              </a:rPr>
              <a:t>Discount Dependency Risk</a:t>
            </a:r>
            <a:endParaRPr lang="en-US" sz="14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9077" y="2236887"/>
            <a:ext cx="2285844" cy="1324868"/>
          </a:xfrm>
          <a:prstGeom prst="rect">
            <a:avLst/>
          </a:prstGeom>
        </p:spPr>
      </p:pic>
      <p:sp>
        <p:nvSpPr>
          <p:cNvPr id="7" name="Text 3"/>
          <p:cNvSpPr/>
          <p:nvPr/>
        </p:nvSpPr>
        <p:spPr>
          <a:xfrm>
            <a:off x="7078485" y="2400102"/>
            <a:ext cx="1883224" cy="225326"/>
          </a:xfrm>
          <a:prstGeom prst="rect">
            <a:avLst/>
          </a:prstGeom>
          <a:noFill/>
          <a:ln/>
        </p:spPr>
        <p:txBody>
          <a:bodyPr wrap="none" lIns="0" tIns="0" rIns="0" bIns="0" rtlCol="0" anchor="t"/>
          <a:lstStyle/>
          <a:p>
            <a:pPr algn="l" indent="0" marL="0">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Hat — 50.00%</a:t>
            </a:r>
            <a:endParaRPr lang="en-US" sz="1400" dirty="0"/>
          </a:p>
        </p:txBody>
      </p:sp>
      <p:sp>
        <p:nvSpPr>
          <p:cNvPr id="8" name="Text 4"/>
          <p:cNvSpPr/>
          <p:nvPr/>
        </p:nvSpPr>
        <p:spPr>
          <a:xfrm>
            <a:off x="7078485" y="2751138"/>
            <a:ext cx="1883224" cy="6474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464646"/>
                </a:solidFill>
                <a:latin typeface="Inter Medium" pitchFamily="34" charset="0"/>
                <a:ea typeface="Inter Medium" pitchFamily="34" charset="-122"/>
                <a:cs typeface="Inter Medium" pitchFamily="34" charset="-120"/>
              </a:rPr>
              <a:t>Highest discount rate in the dataset — exactly 1 in 2 purchases use a discount</a:t>
            </a:r>
            <a:endParaRPr lang="en-US" sz="110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50627" y="2236887"/>
            <a:ext cx="2285844" cy="1324868"/>
          </a:xfrm>
          <a:prstGeom prst="rect">
            <a:avLst/>
          </a:prstGeom>
        </p:spPr>
      </p:pic>
      <p:sp>
        <p:nvSpPr>
          <p:cNvPr id="10" name="Text 5"/>
          <p:cNvSpPr/>
          <p:nvPr/>
        </p:nvSpPr>
        <p:spPr>
          <a:xfrm>
            <a:off x="9490036" y="2400102"/>
            <a:ext cx="1883224" cy="225326"/>
          </a:xfrm>
          <a:prstGeom prst="rect">
            <a:avLst/>
          </a:prstGeom>
          <a:noFill/>
          <a:ln/>
        </p:spPr>
        <p:txBody>
          <a:bodyPr wrap="none" lIns="0" tIns="0" rIns="0" bIns="0" rtlCol="0" anchor="t"/>
          <a:lstStyle/>
          <a:p>
            <a:pPr algn="l" indent="0" marL="0">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Sneakers — 49.66%</a:t>
            </a:r>
            <a:endParaRPr lang="en-US" sz="1400" dirty="0"/>
          </a:p>
        </p:txBody>
      </p:sp>
      <p:sp>
        <p:nvSpPr>
          <p:cNvPr id="11" name="Text 6"/>
          <p:cNvSpPr/>
          <p:nvPr/>
        </p:nvSpPr>
        <p:spPr>
          <a:xfrm>
            <a:off x="9490036" y="2751138"/>
            <a:ext cx="1883224" cy="6474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464646"/>
                </a:solidFill>
                <a:latin typeface="Inter Medium" pitchFamily="34" charset="0"/>
                <a:ea typeface="Inter Medium" pitchFamily="34" charset="-122"/>
                <a:cs typeface="Inter Medium" pitchFamily="34" charset="-120"/>
              </a:rPr>
              <a:t>Near-parity with Hat; strong promotional dependency</a:t>
            </a:r>
            <a:endParaRPr lang="en-US" sz="110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39077" y="3687465"/>
            <a:ext cx="2285844" cy="1109067"/>
          </a:xfrm>
          <a:prstGeom prst="rect">
            <a:avLst/>
          </a:prstGeom>
        </p:spPr>
      </p:pic>
      <p:sp>
        <p:nvSpPr>
          <p:cNvPr id="13" name="Text 7"/>
          <p:cNvSpPr/>
          <p:nvPr/>
        </p:nvSpPr>
        <p:spPr>
          <a:xfrm>
            <a:off x="7078485" y="3850680"/>
            <a:ext cx="1883224" cy="225326"/>
          </a:xfrm>
          <a:prstGeom prst="rect">
            <a:avLst/>
          </a:prstGeom>
          <a:noFill/>
          <a:ln/>
        </p:spPr>
        <p:txBody>
          <a:bodyPr wrap="none" lIns="0" tIns="0" rIns="0" bIns="0" rtlCol="0" anchor="t"/>
          <a:lstStyle/>
          <a:p>
            <a:pPr algn="l" indent="0" marL="0">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Coat — 49.07%</a:t>
            </a:r>
            <a:endParaRPr lang="en-US" sz="1400" dirty="0"/>
          </a:p>
        </p:txBody>
      </p:sp>
      <p:sp>
        <p:nvSpPr>
          <p:cNvPr id="14" name="Text 8"/>
          <p:cNvSpPr/>
          <p:nvPr/>
        </p:nvSpPr>
        <p:spPr>
          <a:xfrm>
            <a:off x="7078485" y="4201716"/>
            <a:ext cx="1883224"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464646"/>
                </a:solidFill>
                <a:latin typeface="Inter Medium" pitchFamily="34" charset="0"/>
                <a:ea typeface="Inter Medium" pitchFamily="34" charset="-122"/>
                <a:cs typeface="Inter Medium" pitchFamily="34" charset="-120"/>
              </a:rPr>
              <a:t>Seasonal item with high discount reliance</a:t>
            </a:r>
            <a:endParaRPr lang="en-US" sz="1100" dirty="0"/>
          </a:p>
        </p:txBody>
      </p:sp>
      <p:pic>
        <p:nvPicPr>
          <p:cNvPr id="15"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50627" y="3687465"/>
            <a:ext cx="2285844" cy="1109067"/>
          </a:xfrm>
          <a:prstGeom prst="rect">
            <a:avLst/>
          </a:prstGeom>
        </p:spPr>
      </p:pic>
      <p:sp>
        <p:nvSpPr>
          <p:cNvPr id="16" name="Text 9"/>
          <p:cNvSpPr/>
          <p:nvPr/>
        </p:nvSpPr>
        <p:spPr>
          <a:xfrm>
            <a:off x="9490036" y="3850680"/>
            <a:ext cx="1883224" cy="225326"/>
          </a:xfrm>
          <a:prstGeom prst="rect">
            <a:avLst/>
          </a:prstGeom>
          <a:noFill/>
          <a:ln/>
        </p:spPr>
        <p:txBody>
          <a:bodyPr wrap="none" lIns="0" tIns="0" rIns="0" bIns="0" rtlCol="0" anchor="t"/>
          <a:lstStyle/>
          <a:p>
            <a:pPr algn="l" indent="0" marL="0">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Sweater — 48.17%</a:t>
            </a:r>
            <a:endParaRPr lang="en-US" sz="1400" dirty="0"/>
          </a:p>
        </p:txBody>
      </p:sp>
      <p:sp>
        <p:nvSpPr>
          <p:cNvPr id="17" name="Text 10"/>
          <p:cNvSpPr/>
          <p:nvPr/>
        </p:nvSpPr>
        <p:spPr>
          <a:xfrm>
            <a:off x="9490036" y="4201716"/>
            <a:ext cx="1883224" cy="4316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464646"/>
                </a:solidFill>
                <a:latin typeface="Inter Medium" pitchFamily="34" charset="0"/>
                <a:ea typeface="Inter Medium" pitchFamily="34" charset="-122"/>
                <a:cs typeface="Inter Medium" pitchFamily="34" charset="-120"/>
              </a:rPr>
              <a:t>Close to half of all purchases discounted</a:t>
            </a:r>
            <a:endParaRPr lang="en-US" sz="1100" dirty="0"/>
          </a:p>
        </p:txBody>
      </p:sp>
      <p:pic>
        <p:nvPicPr>
          <p:cNvPr id="18"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39077" y="4922242"/>
            <a:ext cx="2285844" cy="1324868"/>
          </a:xfrm>
          <a:prstGeom prst="rect">
            <a:avLst/>
          </a:prstGeom>
        </p:spPr>
      </p:pic>
      <p:sp>
        <p:nvSpPr>
          <p:cNvPr id="19" name="Text 11"/>
          <p:cNvSpPr/>
          <p:nvPr/>
        </p:nvSpPr>
        <p:spPr>
          <a:xfrm>
            <a:off x="7078485" y="5085457"/>
            <a:ext cx="1883224" cy="225326"/>
          </a:xfrm>
          <a:prstGeom prst="rect">
            <a:avLst/>
          </a:prstGeom>
          <a:noFill/>
          <a:ln/>
        </p:spPr>
        <p:txBody>
          <a:bodyPr wrap="none" lIns="0" tIns="0" rIns="0" bIns="0" rtlCol="0" anchor="t"/>
          <a:lstStyle/>
          <a:p>
            <a:pPr algn="l" indent="0" marL="0">
              <a:lnSpc>
                <a:spcPct val="104000"/>
              </a:lnSpc>
              <a:buNone/>
            </a:pPr>
            <a:r>
              <a:rPr lang="en-US" sz="1400" dirty="0">
                <a:solidFill>
                  <a:srgbClr val="464646"/>
                </a:solidFill>
                <a:latin typeface="DM Sans SemiBold" pitchFamily="34" charset="0"/>
                <a:ea typeface="DM Sans SemiBold" pitchFamily="34" charset="-122"/>
                <a:cs typeface="DM Sans SemiBold" pitchFamily="34" charset="-120"/>
              </a:rPr>
              <a:t>Pants — 47.37%</a:t>
            </a:r>
            <a:endParaRPr lang="en-US" sz="1400" dirty="0"/>
          </a:p>
        </p:txBody>
      </p:sp>
      <p:sp>
        <p:nvSpPr>
          <p:cNvPr id="20" name="Text 12"/>
          <p:cNvSpPr/>
          <p:nvPr/>
        </p:nvSpPr>
        <p:spPr>
          <a:xfrm>
            <a:off x="7078485" y="5436493"/>
            <a:ext cx="1883224" cy="647402"/>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464646"/>
                </a:solidFill>
                <a:latin typeface="Inter Medium" pitchFamily="34" charset="0"/>
                <a:ea typeface="Inter Medium" pitchFamily="34" charset="-122"/>
                <a:cs typeface="Inter Medium" pitchFamily="34" charset="-120"/>
              </a:rPr>
              <a:t>Lowest of the top 5, yet still nearly 1 in 2 transactions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46398"/>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030303"/>
                </a:solidFill>
                <a:latin typeface="DM Sans SemiBold" pitchFamily="34" charset="0"/>
                <a:ea typeface="DM Sans SemiBold" pitchFamily="34" charset="-122"/>
                <a:cs typeface="DM Sans SemiBold" pitchFamily="34" charset="-120"/>
              </a:rPr>
              <a:t>Customer Segmentation</a:t>
            </a:r>
            <a:endParaRPr lang="en-US" sz="2400" dirty="0"/>
          </a:p>
        </p:txBody>
      </p:sp>
      <p:sp>
        <p:nvSpPr>
          <p:cNvPr id="3" name="Text 1"/>
          <p:cNvSpPr/>
          <p:nvPr/>
        </p:nvSpPr>
        <p:spPr>
          <a:xfrm>
            <a:off x="661475" y="1120080"/>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464646"/>
                </a:solidFill>
                <a:latin typeface="Inter Medium" pitchFamily="34" charset="0"/>
                <a:ea typeface="Inter Medium" pitchFamily="34" charset="-122"/>
                <a:cs typeface="Inter Medium" pitchFamily="34" charset="-120"/>
              </a:rPr>
              <a:t>The customer base is overwhelmingly composed of Loyal customers, with Returning and New customers representing a small but strategically important minority for growth and retention initiatives.</a:t>
            </a:r>
            <a:endParaRPr lang="en-US" sz="950" dirty="0"/>
          </a:p>
        </p:txBody>
      </p:sp>
      <p:pic>
        <p:nvPicPr>
          <p:cNvPr id="4" name="Image 0" descr="preencoded.png">    </p:cNvPr>
          <p:cNvPicPr>
            <a:picLocks noChangeAspect="1"/>
          </p:cNvPicPr>
          <p:nvPr/>
        </p:nvPicPr>
        <p:blipFill>
          <a:blip r:embed="rId1"/>
          <a:stretch>
            <a:fillRect/>
          </a:stretch>
        </p:blipFill>
        <p:spPr>
          <a:xfrm>
            <a:off x="661475" y="1676499"/>
            <a:ext cx="3962301" cy="2852142"/>
          </a:xfrm>
          <a:prstGeom prst="rect">
            <a:avLst/>
          </a:prstGeom>
        </p:spPr>
      </p:pic>
      <p:sp>
        <p:nvSpPr>
          <p:cNvPr id="5" name="Text 2"/>
          <p:cNvSpPr/>
          <p:nvPr/>
        </p:nvSpPr>
        <p:spPr>
          <a:xfrm>
            <a:off x="6253502" y="1664891"/>
            <a:ext cx="5283068" cy="193774"/>
          </a:xfrm>
          <a:prstGeom prst="rect">
            <a:avLst/>
          </a:prstGeom>
          <a:noFill/>
          <a:ln/>
        </p:spPr>
        <p:txBody>
          <a:bodyPr wrap="none" lIns="0" tIns="0" rIns="0" bIns="0" rtlCol="0" anchor="t"/>
          <a:lstStyle/>
          <a:p>
            <a:pPr algn="l" indent="0" marL="0">
              <a:lnSpc>
                <a:spcPct val="104000"/>
              </a:lnSpc>
              <a:buNone/>
            </a:pPr>
            <a:r>
              <a:rPr lang="en-US" sz="1200" dirty="0">
                <a:solidFill>
                  <a:srgbClr val="030303"/>
                </a:solidFill>
                <a:latin typeface="DM Sans SemiBold" pitchFamily="34" charset="0"/>
                <a:ea typeface="DM Sans SemiBold" pitchFamily="34" charset="-122"/>
                <a:cs typeface="DM Sans SemiBold" pitchFamily="34" charset="-120"/>
              </a:rPr>
              <a:t>Segment Breakdown</a:t>
            </a:r>
            <a:endParaRPr lang="en-US" sz="1200" dirty="0"/>
          </a:p>
        </p:txBody>
      </p:sp>
      <p:sp>
        <p:nvSpPr>
          <p:cNvPr id="6" name="Text 3"/>
          <p:cNvSpPr/>
          <p:nvPr/>
        </p:nvSpPr>
        <p:spPr>
          <a:xfrm>
            <a:off x="6913886" y="2025253"/>
            <a:ext cx="3962301" cy="409377"/>
          </a:xfrm>
          <a:prstGeom prst="rect">
            <a:avLst/>
          </a:prstGeom>
          <a:noFill/>
          <a:ln/>
        </p:spPr>
        <p:txBody>
          <a:bodyPr wrap="none" lIns="0" tIns="0" rIns="0" bIns="0" rtlCol="0" anchor="t"/>
          <a:lstStyle/>
          <a:p>
            <a:pPr algn="ctr" indent="0" marL="0">
              <a:lnSpc>
                <a:spcPct val="83000"/>
              </a:lnSpc>
              <a:buNone/>
            </a:pPr>
            <a:r>
              <a:rPr lang="en-US" sz="3200" dirty="0">
                <a:solidFill>
                  <a:srgbClr val="464646"/>
                </a:solidFill>
                <a:latin typeface="DM Sans SemiBold" pitchFamily="34" charset="0"/>
                <a:ea typeface="DM Sans SemiBold" pitchFamily="34" charset="-122"/>
                <a:cs typeface="DM Sans SemiBold" pitchFamily="34" charset="-120"/>
              </a:rPr>
              <a:t>3,116</a:t>
            </a:r>
            <a:endParaRPr lang="en-US" sz="3200" dirty="0"/>
          </a:p>
        </p:txBody>
      </p:sp>
      <p:sp>
        <p:nvSpPr>
          <p:cNvPr id="7" name="Text 4"/>
          <p:cNvSpPr/>
          <p:nvPr/>
        </p:nvSpPr>
        <p:spPr>
          <a:xfrm>
            <a:off x="6253502" y="2566392"/>
            <a:ext cx="5283068" cy="193774"/>
          </a:xfrm>
          <a:prstGeom prst="rect">
            <a:avLst/>
          </a:prstGeom>
          <a:noFill/>
          <a:ln/>
        </p:spPr>
        <p:txBody>
          <a:bodyPr wrap="none" lIns="0" tIns="0" rIns="0" bIns="0" rtlCol="0" anchor="t"/>
          <a:lstStyle/>
          <a:p>
            <a:pPr algn="ctr" indent="0" marL="0">
              <a:lnSpc>
                <a:spcPct val="104000"/>
              </a:lnSpc>
              <a:buNone/>
            </a:pPr>
            <a:r>
              <a:rPr lang="en-US" sz="1200" dirty="0">
                <a:solidFill>
                  <a:srgbClr val="464646"/>
                </a:solidFill>
                <a:latin typeface="DM Sans SemiBold" pitchFamily="34" charset="0"/>
                <a:ea typeface="DM Sans SemiBold" pitchFamily="34" charset="-122"/>
                <a:cs typeface="DM Sans SemiBold" pitchFamily="34" charset="-120"/>
              </a:rPr>
              <a:t>Loyal Customers</a:t>
            </a:r>
            <a:endParaRPr lang="en-US" sz="1200" dirty="0"/>
          </a:p>
        </p:txBody>
      </p:sp>
      <p:sp>
        <p:nvSpPr>
          <p:cNvPr id="8" name="Text 5"/>
          <p:cNvSpPr/>
          <p:nvPr/>
        </p:nvSpPr>
        <p:spPr>
          <a:xfrm>
            <a:off x="6253502" y="2853134"/>
            <a:ext cx="5283068" cy="173633"/>
          </a:xfrm>
          <a:prstGeom prst="rect">
            <a:avLst/>
          </a:prstGeom>
          <a:noFill/>
          <a:ln/>
        </p:spPr>
        <p:txBody>
          <a:bodyPr wrap="none" lIns="0" tIns="0" rIns="0" bIns="0" rtlCol="0" anchor="t"/>
          <a:lstStyle/>
          <a:p>
            <a:pPr algn="ctr" indent="0" marL="0">
              <a:lnSpc>
                <a:spcPct val="117000"/>
              </a:lnSpc>
              <a:buNone/>
            </a:pPr>
            <a:r>
              <a:rPr lang="en-US" sz="950" dirty="0">
                <a:solidFill>
                  <a:srgbClr val="464646"/>
                </a:solidFill>
                <a:latin typeface="Inter Medium" pitchFamily="34" charset="0"/>
                <a:ea typeface="Inter Medium" pitchFamily="34" charset="-122"/>
                <a:cs typeface="Inter Medium" pitchFamily="34" charset="-120"/>
              </a:rPr>
              <a:t>79.9% of total base — the dominant segment driving sustained revenue</a:t>
            </a:r>
            <a:endParaRPr lang="en-US" sz="950" dirty="0"/>
          </a:p>
        </p:txBody>
      </p:sp>
      <p:sp>
        <p:nvSpPr>
          <p:cNvPr id="9" name="Text 6"/>
          <p:cNvSpPr/>
          <p:nvPr/>
        </p:nvSpPr>
        <p:spPr>
          <a:xfrm>
            <a:off x="6913886" y="3274814"/>
            <a:ext cx="3962301" cy="409377"/>
          </a:xfrm>
          <a:prstGeom prst="rect">
            <a:avLst/>
          </a:prstGeom>
          <a:noFill/>
          <a:ln/>
        </p:spPr>
        <p:txBody>
          <a:bodyPr wrap="none" lIns="0" tIns="0" rIns="0" bIns="0" rtlCol="0" anchor="t"/>
          <a:lstStyle/>
          <a:p>
            <a:pPr algn="ctr" indent="0" marL="0">
              <a:lnSpc>
                <a:spcPct val="83000"/>
              </a:lnSpc>
              <a:buNone/>
            </a:pPr>
            <a:r>
              <a:rPr lang="en-US" sz="3200" dirty="0">
                <a:solidFill>
                  <a:srgbClr val="464646"/>
                </a:solidFill>
                <a:latin typeface="DM Sans SemiBold" pitchFamily="34" charset="0"/>
                <a:ea typeface="DM Sans SemiBold" pitchFamily="34" charset="-122"/>
                <a:cs typeface="DM Sans SemiBold" pitchFamily="34" charset="-120"/>
              </a:rPr>
              <a:t>701</a:t>
            </a:r>
            <a:endParaRPr lang="en-US" sz="3200" dirty="0"/>
          </a:p>
        </p:txBody>
      </p:sp>
      <p:sp>
        <p:nvSpPr>
          <p:cNvPr id="10" name="Text 7"/>
          <p:cNvSpPr/>
          <p:nvPr/>
        </p:nvSpPr>
        <p:spPr>
          <a:xfrm>
            <a:off x="6253502" y="3815953"/>
            <a:ext cx="5283068" cy="193774"/>
          </a:xfrm>
          <a:prstGeom prst="rect">
            <a:avLst/>
          </a:prstGeom>
          <a:noFill/>
          <a:ln/>
        </p:spPr>
        <p:txBody>
          <a:bodyPr wrap="none" lIns="0" tIns="0" rIns="0" bIns="0" rtlCol="0" anchor="t"/>
          <a:lstStyle/>
          <a:p>
            <a:pPr algn="ctr" indent="0" marL="0">
              <a:lnSpc>
                <a:spcPct val="104000"/>
              </a:lnSpc>
              <a:buNone/>
            </a:pPr>
            <a:r>
              <a:rPr lang="en-US" sz="1200" dirty="0">
                <a:solidFill>
                  <a:srgbClr val="464646"/>
                </a:solidFill>
                <a:latin typeface="DM Sans SemiBold" pitchFamily="34" charset="0"/>
                <a:ea typeface="DM Sans SemiBold" pitchFamily="34" charset="-122"/>
                <a:cs typeface="DM Sans SemiBold" pitchFamily="34" charset="-120"/>
              </a:rPr>
              <a:t>Returning Customers</a:t>
            </a:r>
            <a:endParaRPr lang="en-US" sz="1200" dirty="0"/>
          </a:p>
        </p:txBody>
      </p:sp>
      <p:sp>
        <p:nvSpPr>
          <p:cNvPr id="11" name="Text 8"/>
          <p:cNvSpPr/>
          <p:nvPr/>
        </p:nvSpPr>
        <p:spPr>
          <a:xfrm>
            <a:off x="6253502" y="4102695"/>
            <a:ext cx="5283068" cy="173633"/>
          </a:xfrm>
          <a:prstGeom prst="rect">
            <a:avLst/>
          </a:prstGeom>
          <a:noFill/>
          <a:ln/>
        </p:spPr>
        <p:txBody>
          <a:bodyPr wrap="none" lIns="0" tIns="0" rIns="0" bIns="0" rtlCol="0" anchor="t"/>
          <a:lstStyle/>
          <a:p>
            <a:pPr algn="ctr" indent="0" marL="0">
              <a:lnSpc>
                <a:spcPct val="117000"/>
              </a:lnSpc>
              <a:buNone/>
            </a:pPr>
            <a:r>
              <a:rPr lang="en-US" sz="950" dirty="0">
                <a:solidFill>
                  <a:srgbClr val="464646"/>
                </a:solidFill>
                <a:latin typeface="Inter Medium" pitchFamily="34" charset="0"/>
                <a:ea typeface="Inter Medium" pitchFamily="34" charset="-122"/>
                <a:cs typeface="Inter Medium" pitchFamily="34" charset="-120"/>
              </a:rPr>
              <a:t>18.0% of total base — re-engaged buyers with conversion potential</a:t>
            </a:r>
            <a:endParaRPr lang="en-US" sz="950" dirty="0"/>
          </a:p>
        </p:txBody>
      </p:sp>
      <p:sp>
        <p:nvSpPr>
          <p:cNvPr id="12" name="Text 9"/>
          <p:cNvSpPr/>
          <p:nvPr/>
        </p:nvSpPr>
        <p:spPr>
          <a:xfrm>
            <a:off x="6913886" y="4524375"/>
            <a:ext cx="3962301" cy="409377"/>
          </a:xfrm>
          <a:prstGeom prst="rect">
            <a:avLst/>
          </a:prstGeom>
          <a:noFill/>
          <a:ln/>
        </p:spPr>
        <p:txBody>
          <a:bodyPr wrap="none" lIns="0" tIns="0" rIns="0" bIns="0" rtlCol="0" anchor="t"/>
          <a:lstStyle/>
          <a:p>
            <a:pPr algn="ctr" indent="0" marL="0">
              <a:lnSpc>
                <a:spcPct val="83000"/>
              </a:lnSpc>
              <a:buNone/>
            </a:pPr>
            <a:r>
              <a:rPr lang="en-US" sz="3200" dirty="0">
                <a:solidFill>
                  <a:srgbClr val="464646"/>
                </a:solidFill>
                <a:latin typeface="DM Sans SemiBold" pitchFamily="34" charset="0"/>
                <a:ea typeface="DM Sans SemiBold" pitchFamily="34" charset="-122"/>
                <a:cs typeface="DM Sans SemiBold" pitchFamily="34" charset="-120"/>
              </a:rPr>
              <a:t>83</a:t>
            </a:r>
            <a:endParaRPr lang="en-US" sz="3200" dirty="0"/>
          </a:p>
        </p:txBody>
      </p:sp>
      <p:sp>
        <p:nvSpPr>
          <p:cNvPr id="13" name="Text 10"/>
          <p:cNvSpPr/>
          <p:nvPr/>
        </p:nvSpPr>
        <p:spPr>
          <a:xfrm>
            <a:off x="6253502" y="5065514"/>
            <a:ext cx="5283068" cy="193774"/>
          </a:xfrm>
          <a:prstGeom prst="rect">
            <a:avLst/>
          </a:prstGeom>
          <a:noFill/>
          <a:ln/>
        </p:spPr>
        <p:txBody>
          <a:bodyPr wrap="none" lIns="0" tIns="0" rIns="0" bIns="0" rtlCol="0" anchor="t"/>
          <a:lstStyle/>
          <a:p>
            <a:pPr algn="ctr" indent="0" marL="0">
              <a:lnSpc>
                <a:spcPct val="104000"/>
              </a:lnSpc>
              <a:buNone/>
            </a:pPr>
            <a:r>
              <a:rPr lang="en-US" sz="1200" dirty="0">
                <a:solidFill>
                  <a:srgbClr val="464646"/>
                </a:solidFill>
                <a:latin typeface="DM Sans SemiBold" pitchFamily="34" charset="0"/>
                <a:ea typeface="DM Sans SemiBold" pitchFamily="34" charset="-122"/>
                <a:cs typeface="DM Sans SemiBold" pitchFamily="34" charset="-120"/>
              </a:rPr>
              <a:t>New Customers</a:t>
            </a:r>
            <a:endParaRPr lang="en-US" sz="1200" dirty="0"/>
          </a:p>
        </p:txBody>
      </p:sp>
      <p:sp>
        <p:nvSpPr>
          <p:cNvPr id="14" name="Text 11"/>
          <p:cNvSpPr/>
          <p:nvPr/>
        </p:nvSpPr>
        <p:spPr>
          <a:xfrm>
            <a:off x="6253502" y="5352256"/>
            <a:ext cx="5283068" cy="173633"/>
          </a:xfrm>
          <a:prstGeom prst="rect">
            <a:avLst/>
          </a:prstGeom>
          <a:noFill/>
          <a:ln/>
        </p:spPr>
        <p:txBody>
          <a:bodyPr wrap="none" lIns="0" tIns="0" rIns="0" bIns="0" rtlCol="0" anchor="t"/>
          <a:lstStyle/>
          <a:p>
            <a:pPr algn="ctr" indent="0" marL="0">
              <a:lnSpc>
                <a:spcPct val="117000"/>
              </a:lnSpc>
              <a:buNone/>
            </a:pPr>
            <a:r>
              <a:rPr lang="en-US" sz="950" dirty="0">
                <a:solidFill>
                  <a:srgbClr val="464646"/>
                </a:solidFill>
                <a:latin typeface="Inter Medium" pitchFamily="34" charset="0"/>
                <a:ea typeface="Inter Medium" pitchFamily="34" charset="-122"/>
                <a:cs typeface="Inter Medium" pitchFamily="34" charset="-120"/>
              </a:rPr>
              <a:t>2.1% of total base — early-stage acquisition requiring onboarding focus</a:t>
            </a:r>
            <a:endParaRPr lang="en-US" sz="950" dirty="0"/>
          </a:p>
        </p:txBody>
      </p:sp>
      <p:sp>
        <p:nvSpPr>
          <p:cNvPr id="15" name="Shape 12"/>
          <p:cNvSpPr/>
          <p:nvPr/>
        </p:nvSpPr>
        <p:spPr>
          <a:xfrm>
            <a:off x="6253502" y="5630466"/>
            <a:ext cx="5283068" cy="576461"/>
          </a:xfrm>
          <a:prstGeom prst="roundRect">
            <a:avLst>
              <a:gd name="adj" fmla="val 3228"/>
            </a:avLst>
          </a:prstGeom>
          <a:solidFill>
            <a:srgbClr val="D4F7EC"/>
          </a:solidFill>
          <a:ln/>
        </p:spPr>
      </p:sp>
      <p:pic>
        <p:nvPicPr>
          <p:cNvPr id="16" name="Image 1" descr="preencoded.png">    </p:cNvPr>
          <p:cNvPicPr>
            <a:picLocks noChangeAspect="1"/>
          </p:cNvPicPr>
          <p:nvPr/>
        </p:nvPicPr>
        <p:blipFill>
          <a:blip r:embed="rId2"/>
          <a:stretch>
            <a:fillRect/>
          </a:stretch>
        </p:blipFill>
        <p:spPr>
          <a:xfrm>
            <a:off x="6377522" y="5772845"/>
            <a:ext cx="154976" cy="124023"/>
          </a:xfrm>
          <a:prstGeom prst="rect">
            <a:avLst/>
          </a:prstGeom>
        </p:spPr>
      </p:pic>
      <p:sp>
        <p:nvSpPr>
          <p:cNvPr id="17" name="Text 13"/>
          <p:cNvSpPr/>
          <p:nvPr/>
        </p:nvSpPr>
        <p:spPr>
          <a:xfrm>
            <a:off x="6656519" y="5745063"/>
            <a:ext cx="4756031"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Inter Medium" pitchFamily="34" charset="0"/>
                <a:ea typeface="Inter Medium" pitchFamily="34" charset="-122"/>
                <a:cs typeface="Inter Medium" pitchFamily="34" charset="-120"/>
              </a:rPr>
              <a:t>Loyalty concentration is high — retention strategies should prioritize the Loyal segment while acquisition efforts target New customer growth.</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2026-08-26T10:42:06Z</dcterms:created>
  <dcterms:modified xsi:type="dcterms:W3CDTF">2026-08-26T10:42:06Z</dcterms:modified>
</cp:coreProperties>
</file>